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65" r:id="rId6"/>
    <p:sldId id="268" r:id="rId7"/>
    <p:sldId id="267" r:id="rId8"/>
    <p:sldId id="269" r:id="rId9"/>
    <p:sldId id="257" r:id="rId10"/>
    <p:sldId id="258" r:id="rId11"/>
    <p:sldId id="259" r:id="rId12"/>
    <p:sldId id="260" r:id="rId13"/>
    <p:sldId id="261" r:id="rId14"/>
    <p:sldId id="262" r:id="rId15"/>
    <p:sldId id="263" r:id="rId16"/>
    <p:sldId id="264" r:id="rId17"/>
    <p:sldId id="271"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BA00DD-17BC-49CD-A0F1-358BD38DCEDE}" v="201" dt="2025-12-05T21:18:13.3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77503" autoAdjust="0"/>
  </p:normalViewPr>
  <p:slideViewPr>
    <p:cSldViewPr snapToGrid="0">
      <p:cViewPr varScale="1">
        <p:scale>
          <a:sx n="85" d="100"/>
          <a:sy n="85" d="100"/>
        </p:scale>
        <p:origin x="13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56BEF8-56DE-4DF6-98BE-4BA7E1998960}"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81AD3-1E20-4F2D-A5E7-ABD0AED9387C}" type="slidenum">
              <a:rPr lang="en-US" smtClean="0"/>
              <a:t>‹#›</a:t>
            </a:fld>
            <a:endParaRPr lang="en-US"/>
          </a:p>
        </p:txBody>
      </p:sp>
    </p:spTree>
    <p:extLst>
      <p:ext uri="{BB962C8B-B14F-4D97-AF65-F5344CB8AC3E}">
        <p14:creationId xmlns:p14="http://schemas.microsoft.com/office/powerpoint/2010/main" val="2270871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Formula 1 (F1)</a:t>
            </a:r>
            <a:r>
              <a:rPr lang="en-US" dirty="0"/>
              <a:t> is the highest level of international motorsport. It features the fastest, most technologically advanced open-wheel race cars in the world. The name “Formula” refers to the set of rules that all teams and cars must follow and is derived from the formula of the gas that they use, or at least used to use. </a:t>
            </a:r>
          </a:p>
          <a:p>
            <a:endParaRPr lang="en-US" dirty="0"/>
          </a:p>
          <a:p>
            <a:r>
              <a:rPr lang="en-US" dirty="0"/>
              <a:t>There are 10 teams, each with two drivers, making 20 drivers total. The teams are some of the most well known car brands, and red bull for some reason, the most famous of which include Ferrari, McLaren and Mercedes</a:t>
            </a:r>
          </a:p>
          <a:p>
            <a:endParaRPr lang="en-US" dirty="0"/>
          </a:p>
          <a:p>
            <a:r>
              <a:rPr lang="en-US" dirty="0"/>
              <a:t>There is a team competition, called constructors where the two drivers must compete to get the most points in a season. There is also an individual competition, where the driver who gets the most points with will something called the World Drivers </a:t>
            </a:r>
            <a:r>
              <a:rPr lang="en-US" dirty="0" err="1"/>
              <a:t>Champoinship</a:t>
            </a:r>
            <a:r>
              <a:rPr lang="en-US" dirty="0"/>
              <a:t>, or WDC. </a:t>
            </a:r>
          </a:p>
        </p:txBody>
      </p:sp>
      <p:sp>
        <p:nvSpPr>
          <p:cNvPr id="4" name="Slide Number Placeholder 3"/>
          <p:cNvSpPr>
            <a:spLocks noGrp="1"/>
          </p:cNvSpPr>
          <p:nvPr>
            <p:ph type="sldNum" sz="quarter" idx="5"/>
          </p:nvPr>
        </p:nvSpPr>
        <p:spPr/>
        <p:txBody>
          <a:bodyPr/>
          <a:lstStyle/>
          <a:p>
            <a:fld id="{45C81AD3-1E20-4F2D-A5E7-ABD0AED9387C}" type="slidenum">
              <a:rPr lang="en-US" smtClean="0"/>
              <a:t>2</a:t>
            </a:fld>
            <a:endParaRPr lang="en-US"/>
          </a:p>
        </p:txBody>
      </p:sp>
    </p:spTree>
    <p:extLst>
      <p:ext uri="{BB962C8B-B14F-4D97-AF65-F5344CB8AC3E}">
        <p14:creationId xmlns:p14="http://schemas.microsoft.com/office/powerpoint/2010/main" val="1565813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cars are </a:t>
            </a:r>
            <a:r>
              <a:rPr lang="en-US" b="1" dirty="0"/>
              <a:t>single-seat, open-wheel</a:t>
            </a:r>
            <a:r>
              <a:rPr lang="en-US" dirty="0"/>
              <a:t>, hybrid machines.</a:t>
            </a:r>
          </a:p>
          <a:p>
            <a:r>
              <a:rPr lang="en-US" dirty="0"/>
              <a:t>They have  a 1.6-liter, 90-degree turbocharged V6 internal combustion engine</a:t>
            </a:r>
            <a:r>
              <a:rPr lang="en-US" sz="1200" b="0" i="0" kern="1200" dirty="0">
                <a:solidFill>
                  <a:schemeClr val="tx1"/>
                </a:solidFill>
                <a:effectLst/>
                <a:latin typeface="+mn-lt"/>
                <a:ea typeface="+mn-ea"/>
                <a:cs typeface="+mn-cs"/>
              </a:rPr>
              <a:t> with a complex energy recovery system (ERS). (battery)</a:t>
            </a:r>
            <a:endParaRPr lang="en-US" dirty="0"/>
          </a:p>
          <a:p>
            <a:r>
              <a:rPr lang="en-US" dirty="0"/>
              <a:t>They can reach </a:t>
            </a:r>
            <a:r>
              <a:rPr lang="en-US" b="1" dirty="0"/>
              <a:t>220+ mph (350+ km/h)</a:t>
            </a:r>
            <a:r>
              <a:rPr lang="en-US" dirty="0"/>
              <a:t>  (though that is growing every year) and are designed using cutting-edge aerodynamics and engineering.</a:t>
            </a:r>
          </a:p>
          <a:p>
            <a:r>
              <a:rPr lang="en-US" dirty="0"/>
              <a:t>Teams spend hundreds of millions developing the cars each year.</a:t>
            </a:r>
          </a:p>
          <a:p>
            <a:r>
              <a:rPr lang="en-US" dirty="0"/>
              <a:t>To put it in perspective, F1 cars are valued at around 16 million per car, with estimates going as high a 20 million </a:t>
            </a:r>
          </a:p>
          <a:p>
            <a:r>
              <a:rPr lang="en-US" dirty="0"/>
              <a:t>Only some teams provide engines, and others have to use their engines to power their car. Those teams are </a:t>
            </a:r>
            <a:r>
              <a:rPr lang="en-US" sz="1200" b="1" i="0" kern="1200" dirty="0">
                <a:solidFill>
                  <a:schemeClr val="tx1"/>
                </a:solidFill>
                <a:effectLst/>
                <a:latin typeface="+mn-lt"/>
                <a:ea typeface="+mn-ea"/>
                <a:cs typeface="+mn-cs"/>
              </a:rPr>
              <a:t>Mercedes, Ferrari, Renault (Alpine), Honda, Audi, and Red Bull Ford Powertrains (coming next year)</a:t>
            </a:r>
            <a:endParaRPr lang="en-US" dirty="0"/>
          </a:p>
          <a:p>
            <a:endParaRPr lang="en-US" dirty="0"/>
          </a:p>
        </p:txBody>
      </p:sp>
      <p:sp>
        <p:nvSpPr>
          <p:cNvPr id="4" name="Slide Number Placeholder 3"/>
          <p:cNvSpPr>
            <a:spLocks noGrp="1"/>
          </p:cNvSpPr>
          <p:nvPr>
            <p:ph type="sldNum" sz="quarter" idx="5"/>
          </p:nvPr>
        </p:nvSpPr>
        <p:spPr/>
        <p:txBody>
          <a:bodyPr/>
          <a:lstStyle/>
          <a:p>
            <a:fld id="{45C81AD3-1E20-4F2D-A5E7-ABD0AED9387C}" type="slidenum">
              <a:rPr lang="en-US" smtClean="0"/>
              <a:t>3</a:t>
            </a:fld>
            <a:endParaRPr lang="en-US"/>
          </a:p>
        </p:txBody>
      </p:sp>
    </p:spTree>
    <p:extLst>
      <p:ext uri="{BB962C8B-B14F-4D97-AF65-F5344CB8AC3E}">
        <p14:creationId xmlns:p14="http://schemas.microsoft.com/office/powerpoint/2010/main" val="4250480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Friday – Practice:</a:t>
            </a:r>
            <a:r>
              <a:rPr lang="en-US" altLang="en-US" dirty="0">
                <a:latin typeface="Arial" panose="020B0604020202020204" pitchFamily="34" charset="0"/>
              </a:rPr>
              <a:t> Teams test setups</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Saturday – Qualifying </a:t>
            </a:r>
            <a:r>
              <a:rPr lang="en-US" altLang="en-US" dirty="0">
                <a:latin typeface="Arial" panose="020B0604020202020204" pitchFamily="34" charset="0"/>
              </a:rPr>
              <a:t>Drivers set the fastest lap time to determine the starting order</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Sunday – Race:</a:t>
            </a:r>
            <a:r>
              <a:rPr lang="en-US" altLang="en-US" dirty="0">
                <a:latin typeface="Arial" panose="020B0604020202020204" pitchFamily="34" charset="0"/>
              </a:rPr>
              <a:t> Usually 1.5–2 hours long, with pit stops, strategy, and tire management playing huge roles.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Typically, night races will race on Saturday night, like with Vegas this year, that started a 10 pm our time, 8 pm their time on Saturday night, as they want to test the drivers with different weather and temperatures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There are three different types of races, day, night, and street races. Street races are run on actual streets that normal people drive on, like Monaco or Vegas (the conditions are more unpredictable). Day races occur during the day, but they are typically run in the afternoon, while night races are only run after o'clock, typically because of temperature, to prevent overheating (Dubai) </a:t>
            </a: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r>
              <a:rPr lang="en-US" dirty="0"/>
              <a:t>Drivers and teams earn points based on finishing position.</a:t>
            </a:r>
          </a:p>
          <a:p>
            <a:r>
              <a:rPr lang="en-US" b="1" dirty="0"/>
              <a:t>1st place = 25 points</a:t>
            </a:r>
            <a:endParaRPr lang="en-US" dirty="0"/>
          </a:p>
          <a:p>
            <a:r>
              <a:rPr lang="en-US" b="1" dirty="0"/>
              <a:t>2nd = 18</a:t>
            </a:r>
            <a:endParaRPr lang="en-US" dirty="0"/>
          </a:p>
          <a:p>
            <a:r>
              <a:rPr lang="en-US" b="1" dirty="0"/>
              <a:t>3rd = 15</a:t>
            </a:r>
            <a:br>
              <a:rPr lang="en-US" dirty="0"/>
            </a:br>
            <a:r>
              <a:rPr lang="en-US" dirty="0"/>
              <a:t>…down to </a:t>
            </a:r>
            <a:r>
              <a:rPr lang="en-US" b="1" dirty="0"/>
              <a:t>10th place = 1 point</a:t>
            </a:r>
            <a:r>
              <a:rPr lang="en-US" dirty="0"/>
              <a:t>.</a:t>
            </a:r>
          </a:p>
          <a:p>
            <a:r>
              <a:rPr lang="en-US" dirty="0"/>
              <a:t>Drivers compete for the </a:t>
            </a:r>
            <a:r>
              <a:rPr lang="en-US" b="1" dirty="0"/>
              <a:t>Drivers’ Championship</a:t>
            </a:r>
            <a:r>
              <a:rPr lang="en-US" dirty="0"/>
              <a:t>; teams compete for the </a:t>
            </a:r>
            <a:r>
              <a:rPr lang="en-US" b="1" dirty="0"/>
              <a:t>Constructors’ Championship</a:t>
            </a:r>
            <a:r>
              <a:rPr lang="en-US" dirty="0"/>
              <a:t> (which also determines millions in prize money).</a:t>
            </a: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45C81AD3-1E20-4F2D-A5E7-ABD0AED9387C}" type="slidenum">
              <a:rPr lang="en-US" smtClean="0"/>
              <a:t>4</a:t>
            </a:fld>
            <a:endParaRPr lang="en-US"/>
          </a:p>
        </p:txBody>
      </p:sp>
    </p:spTree>
    <p:extLst>
      <p:ext uri="{BB962C8B-B14F-4D97-AF65-F5344CB8AC3E}">
        <p14:creationId xmlns:p14="http://schemas.microsoft.com/office/powerpoint/2010/main" val="235180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Monaco – Prestige and Pure Driver Skill</a:t>
            </a:r>
          </a:p>
          <a:p>
            <a:r>
              <a:rPr lang="en-US" dirty="0"/>
              <a:t>Known as </a:t>
            </a:r>
            <a:r>
              <a:rPr lang="en-US" i="1" dirty="0"/>
              <a:t>the jewel of F1</a:t>
            </a:r>
            <a:r>
              <a:rPr lang="en-US" dirty="0"/>
              <a:t>, the </a:t>
            </a:r>
            <a:r>
              <a:rPr lang="en-US" b="1" dirty="0"/>
              <a:t>Monaco Grand Prix</a:t>
            </a:r>
            <a:r>
              <a:rPr lang="en-US" dirty="0"/>
              <a:t> is all about glamour, history, and perfection.</a:t>
            </a:r>
          </a:p>
          <a:p>
            <a:r>
              <a:rPr lang="en-US" dirty="0"/>
              <a:t>The track winds through the actual narrow city streets of Monte Carlo, leaving </a:t>
            </a:r>
            <a:r>
              <a:rPr lang="en-US" b="1" dirty="0"/>
              <a:t>zero room for error, leading to many crashes and little over takes. </a:t>
            </a:r>
            <a:endParaRPr lang="en-US" dirty="0"/>
          </a:p>
          <a:p>
            <a:r>
              <a:rPr lang="en-US" dirty="0"/>
              <a:t>It’s the ultimate test of precision and bravery, and winning Monaco is considered one of the sport’s greatest achievements. </a:t>
            </a:r>
          </a:p>
          <a:p>
            <a:r>
              <a:rPr lang="en-US" dirty="0"/>
              <a:t>Monaco is a track that puts a lot of emphasis on qualifying, due to little overtaking in the race, so the strategy is frequently more centered on winning the qualifying and not </a:t>
            </a:r>
            <a:r>
              <a:rPr lang="en-US" dirty="0" err="1"/>
              <a:t>DNFing</a:t>
            </a:r>
            <a:r>
              <a:rPr lang="en-US" dirty="0"/>
              <a:t> in the race. </a:t>
            </a:r>
          </a:p>
          <a:p>
            <a:r>
              <a:rPr lang="en-US" dirty="0"/>
              <a:t>You may have also seen the iconic yachts picture, Monaco is one of the richest countries in the world, so it attracts a lot of celebrities and wildly rich people. Fun fact, the only way to access the circuit is by boat or bike, you cannot drive as the circuit covers the roads, only furthering the exclusivity of the race.</a:t>
            </a:r>
          </a:p>
          <a:p>
            <a:endParaRPr lang="en-US" dirty="0"/>
          </a:p>
          <a:p>
            <a:r>
              <a:rPr lang="en-US" b="1" dirty="0"/>
              <a:t>Silverstone – The Birthplace of Formula 1</a:t>
            </a:r>
          </a:p>
          <a:p>
            <a:r>
              <a:rPr lang="en-US" dirty="0"/>
              <a:t>Silverstone hosted the </a:t>
            </a:r>
            <a:r>
              <a:rPr lang="en-US" b="1" dirty="0"/>
              <a:t>very first Formula 1 World Championship race in 1950</a:t>
            </a:r>
            <a:r>
              <a:rPr lang="en-US" dirty="0"/>
              <a:t>, making it foundational to the sport’s history.</a:t>
            </a:r>
          </a:p>
          <a:p>
            <a:r>
              <a:rPr lang="en-US" dirty="0"/>
              <a:t>It’s known for fast, flowing corners like </a:t>
            </a:r>
            <a:r>
              <a:rPr lang="en-US" b="1" dirty="0" err="1"/>
              <a:t>Maggotts</a:t>
            </a:r>
            <a:r>
              <a:rPr lang="en-US" b="1" dirty="0"/>
              <a:t>–Becketts</a:t>
            </a:r>
            <a:r>
              <a:rPr lang="en-US" dirty="0"/>
              <a:t>, which push cars and drivers to the limit.</a:t>
            </a:r>
          </a:p>
          <a:p>
            <a:r>
              <a:rPr lang="en-US" dirty="0"/>
              <a:t>British motorsport culture is deeply tied to Silverstone—many teams are based nearby, so it’s essentially F1’s “home race.”</a:t>
            </a:r>
          </a:p>
          <a:p>
            <a:r>
              <a:rPr lang="en-US" dirty="0"/>
              <a:t>It is also where all of the British drivers wish to win, most recently Lando Norris said that he would “give up the rest of his wins if he could win Silverstone”</a:t>
            </a:r>
          </a:p>
          <a:p>
            <a:endParaRPr lang="en-US" dirty="0"/>
          </a:p>
          <a:p>
            <a:r>
              <a:rPr lang="en-US" b="1" dirty="0"/>
              <a:t>Spa-Francorchamps – Pure Speed and Legendary Corners</a:t>
            </a:r>
          </a:p>
          <a:p>
            <a:r>
              <a:rPr lang="en-US" dirty="0"/>
              <a:t>Spa is famous for its dramatic elevation changes, long straights, and iconic corners like </a:t>
            </a:r>
            <a:r>
              <a:rPr lang="en-US" b="1" dirty="0"/>
              <a:t>Eau Rouge/</a:t>
            </a:r>
            <a:r>
              <a:rPr lang="en-US" b="1" dirty="0" err="1"/>
              <a:t>Raidillon</a:t>
            </a:r>
            <a:r>
              <a:rPr lang="en-US" dirty="0"/>
              <a:t>.</a:t>
            </a:r>
          </a:p>
          <a:p>
            <a:r>
              <a:rPr lang="en-US" dirty="0"/>
              <a:t>It’s one of the longest and fastest circuits on the calendar, offering real racing challenges instead of just technical driving.</a:t>
            </a:r>
          </a:p>
          <a:p>
            <a:r>
              <a:rPr lang="en-US" dirty="0"/>
              <a:t>Drivers consistently name Spa as one of their favorite tracks because it combines speed, skill, and unpredictability—especially with its constantly changing weather.</a:t>
            </a:r>
          </a:p>
          <a:p>
            <a:r>
              <a:rPr lang="en-US" dirty="0"/>
              <a:t>Fun Fact: way back when, sometime in the 80’s, there were two drivers who dared each other to take Eau Rouge at full speed and see who could survive it, and they did it, because Formula 1 drivers are crazy like that. I believe both survived so not sure who won that one</a:t>
            </a:r>
          </a:p>
          <a:p>
            <a:endParaRPr lang="en-US" dirty="0"/>
          </a:p>
          <a:p>
            <a:endParaRPr lang="en-US" dirty="0"/>
          </a:p>
        </p:txBody>
      </p:sp>
      <p:sp>
        <p:nvSpPr>
          <p:cNvPr id="4" name="Slide Number Placeholder 3"/>
          <p:cNvSpPr>
            <a:spLocks noGrp="1"/>
          </p:cNvSpPr>
          <p:nvPr>
            <p:ph type="sldNum" sz="quarter" idx="5"/>
          </p:nvPr>
        </p:nvSpPr>
        <p:spPr/>
        <p:txBody>
          <a:bodyPr/>
          <a:lstStyle/>
          <a:p>
            <a:fld id="{45C81AD3-1E20-4F2D-A5E7-ABD0AED9387C}" type="slidenum">
              <a:rPr lang="en-US" smtClean="0"/>
              <a:t>5</a:t>
            </a:fld>
            <a:endParaRPr lang="en-US"/>
          </a:p>
        </p:txBody>
      </p:sp>
    </p:spTree>
    <p:extLst>
      <p:ext uri="{BB962C8B-B14F-4D97-AF65-F5344CB8AC3E}">
        <p14:creationId xmlns:p14="http://schemas.microsoft.com/office/powerpoint/2010/main" val="4257919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81AD3-1E20-4F2D-A5E7-ABD0AED9387C}" type="slidenum">
              <a:rPr lang="en-US" smtClean="0"/>
              <a:t>8</a:t>
            </a:fld>
            <a:endParaRPr lang="en-US"/>
          </a:p>
        </p:txBody>
      </p:sp>
    </p:spTree>
    <p:extLst>
      <p:ext uri="{BB962C8B-B14F-4D97-AF65-F5344CB8AC3E}">
        <p14:creationId xmlns:p14="http://schemas.microsoft.com/office/powerpoint/2010/main" val="3100017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700" dirty="0">
                <a:latin typeface="Bahnschrift" panose="020B0502040204020203" pitchFamily="34" charset="0"/>
              </a:rPr>
              <a:t>Used for interpretability and ability to quantify the effect of individual features on outcomes (Oliveira‑Silvino et al., 2024). </a:t>
            </a:r>
          </a:p>
          <a:p>
            <a:pPr lvl="1"/>
            <a:endParaRPr lang="en-US" sz="1700" dirty="0">
              <a:latin typeface="Bahnschrift" panose="020B0502040204020203" pitchFamily="34" charset="0"/>
            </a:endParaRPr>
          </a:p>
          <a:p>
            <a:pPr lvl="1"/>
            <a:r>
              <a:rPr lang="en-US" sz="1700" dirty="0">
                <a:latin typeface="Bahnschrift" panose="020B0502040204020203" pitchFamily="34" charset="0"/>
              </a:rPr>
              <a:t>Limited when relationships between features and performance are nonlinear or influenced by multiple interacting factors (typical with Formula 1 data)</a:t>
            </a:r>
          </a:p>
          <a:p>
            <a:endParaRPr lang="en-US" dirty="0"/>
          </a:p>
        </p:txBody>
      </p:sp>
      <p:sp>
        <p:nvSpPr>
          <p:cNvPr id="4" name="Slide Number Placeholder 3"/>
          <p:cNvSpPr>
            <a:spLocks noGrp="1"/>
          </p:cNvSpPr>
          <p:nvPr>
            <p:ph type="sldNum" sz="quarter" idx="5"/>
          </p:nvPr>
        </p:nvSpPr>
        <p:spPr/>
        <p:txBody>
          <a:bodyPr/>
          <a:lstStyle/>
          <a:p>
            <a:fld id="{45C81AD3-1E20-4F2D-A5E7-ABD0AED9387C}" type="slidenum">
              <a:rPr lang="en-US" smtClean="0"/>
              <a:t>9</a:t>
            </a:fld>
            <a:endParaRPr lang="en-US"/>
          </a:p>
        </p:txBody>
      </p:sp>
    </p:spTree>
    <p:extLst>
      <p:ext uri="{BB962C8B-B14F-4D97-AF65-F5344CB8AC3E}">
        <p14:creationId xmlns:p14="http://schemas.microsoft.com/office/powerpoint/2010/main" val="2061531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Bahnschrift" panose="020B0502040204020203" pitchFamily="34" charset="0"/>
              </a:rPr>
              <a:t>Ensemble methods (random forest, gradient boosting) </a:t>
            </a:r>
          </a:p>
          <a:p>
            <a:pPr lvl="1"/>
            <a:r>
              <a:rPr lang="en-US" dirty="0">
                <a:latin typeface="Bahnschrift" panose="020B0502040204020203" pitchFamily="34" charset="0"/>
              </a:rPr>
              <a:t>Have been successfully applied in diverse sports analytics contexts to visualize complex, nonlinear relationships between features while highlighting different  feature importance (Bansal et al., 2025)</a:t>
            </a:r>
          </a:p>
          <a:p>
            <a:pPr lvl="1"/>
            <a:r>
              <a:rPr lang="en-US" dirty="0">
                <a:latin typeface="Bahnschrift" panose="020B0502040204020203" pitchFamily="34" charset="0"/>
              </a:rPr>
              <a:t>Strong candidates for exploratory and predictive work</a:t>
            </a:r>
          </a:p>
          <a:p>
            <a:endParaRPr lang="en-US" dirty="0"/>
          </a:p>
        </p:txBody>
      </p:sp>
      <p:sp>
        <p:nvSpPr>
          <p:cNvPr id="4" name="Slide Number Placeholder 3"/>
          <p:cNvSpPr>
            <a:spLocks noGrp="1"/>
          </p:cNvSpPr>
          <p:nvPr>
            <p:ph type="sldNum" sz="quarter" idx="5"/>
          </p:nvPr>
        </p:nvSpPr>
        <p:spPr/>
        <p:txBody>
          <a:bodyPr/>
          <a:lstStyle/>
          <a:p>
            <a:fld id="{45C81AD3-1E20-4F2D-A5E7-ABD0AED9387C}" type="slidenum">
              <a:rPr lang="en-US" smtClean="0"/>
              <a:t>10</a:t>
            </a:fld>
            <a:endParaRPr lang="en-US"/>
          </a:p>
        </p:txBody>
      </p:sp>
    </p:spTree>
    <p:extLst>
      <p:ext uri="{BB962C8B-B14F-4D97-AF65-F5344CB8AC3E}">
        <p14:creationId xmlns:p14="http://schemas.microsoft.com/office/powerpoint/2010/main" val="2812648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Bahnschrift" panose="020B0502040204020203" pitchFamily="34" charset="0"/>
              </a:rPr>
              <a:t>Advanced models (neural networks or deep learning architectures)</a:t>
            </a:r>
            <a:r>
              <a:rPr lang="en-US" dirty="0">
                <a:latin typeface="Bahnschrift" panose="020B0502040204020203" pitchFamily="34" charset="0"/>
              </a:rPr>
              <a:t> </a:t>
            </a:r>
          </a:p>
          <a:p>
            <a:pPr lvl="1"/>
            <a:r>
              <a:rPr lang="en-US" dirty="0">
                <a:latin typeface="Bahnschrift" panose="020B0502040204020203" pitchFamily="34" charset="0"/>
              </a:rPr>
              <a:t>Incorporate sequential and time-series information from telemetry or lap-by-lap data (Jia et al., 2025)</a:t>
            </a:r>
          </a:p>
          <a:p>
            <a:pPr lvl="1"/>
            <a:r>
              <a:rPr lang="en-US" dirty="0">
                <a:latin typeface="Bahnschrift" panose="020B0502040204020203" pitchFamily="34" charset="0"/>
              </a:rPr>
              <a:t>Often difficult to interpret and require extensive preprocessing and computational resources</a:t>
            </a:r>
          </a:p>
          <a:p>
            <a:endParaRPr lang="en-US" dirty="0"/>
          </a:p>
        </p:txBody>
      </p:sp>
      <p:sp>
        <p:nvSpPr>
          <p:cNvPr id="4" name="Slide Number Placeholder 3"/>
          <p:cNvSpPr>
            <a:spLocks noGrp="1"/>
          </p:cNvSpPr>
          <p:nvPr>
            <p:ph type="sldNum" sz="quarter" idx="5"/>
          </p:nvPr>
        </p:nvSpPr>
        <p:spPr/>
        <p:txBody>
          <a:bodyPr/>
          <a:lstStyle/>
          <a:p>
            <a:fld id="{45C81AD3-1E20-4F2D-A5E7-ABD0AED9387C}" type="slidenum">
              <a:rPr lang="en-US" smtClean="0"/>
              <a:t>11</a:t>
            </a:fld>
            <a:endParaRPr lang="en-US"/>
          </a:p>
        </p:txBody>
      </p:sp>
    </p:spTree>
    <p:extLst>
      <p:ext uri="{BB962C8B-B14F-4D97-AF65-F5344CB8AC3E}">
        <p14:creationId xmlns:p14="http://schemas.microsoft.com/office/powerpoint/2010/main" val="577352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Bahnschrift" panose="020B0502040204020203" pitchFamily="34" charset="0"/>
              </a:rPr>
              <a:t>Hierarchical and k-Means clustering </a:t>
            </a:r>
          </a:p>
          <a:p>
            <a:pPr lvl="1"/>
            <a:r>
              <a:rPr lang="en-US" dirty="0">
                <a:latin typeface="Bahnschrift" panose="020B0502040204020203" pitchFamily="34" charset="0"/>
              </a:rPr>
              <a:t>Well suited for exploring driver performance and circuit characteristics </a:t>
            </a:r>
          </a:p>
          <a:p>
            <a:pPr lvl="1"/>
            <a:r>
              <a:rPr lang="en-US" dirty="0">
                <a:latin typeface="Bahnschrift" panose="020B0502040204020203" pitchFamily="34" charset="0"/>
              </a:rPr>
              <a:t>Allows drivers to be grouped based on shared performance traits and circuits to be categorized according to characteristics (overtaking difficulty, pit stop patterns, and tire degradation)</a:t>
            </a:r>
          </a:p>
          <a:p>
            <a:r>
              <a:rPr lang="en-US" dirty="0">
                <a:latin typeface="Bahnschrift" panose="020B0502040204020203" pitchFamily="34" charset="0"/>
              </a:rPr>
              <a:t>Hierarchical clustering is useful for visualizing nested relationships between drivers or circuits</a:t>
            </a:r>
          </a:p>
          <a:p>
            <a:r>
              <a:rPr lang="en-US" dirty="0">
                <a:latin typeface="Bahnschrift" panose="020B0502040204020203" pitchFamily="34" charset="0"/>
              </a:rPr>
              <a:t>While k-Means provides a straightforward approach to partitioning data into distinct clusters of similar traits</a:t>
            </a:r>
          </a:p>
          <a:p>
            <a:endParaRPr lang="en-US" dirty="0"/>
          </a:p>
        </p:txBody>
      </p:sp>
      <p:sp>
        <p:nvSpPr>
          <p:cNvPr id="4" name="Slide Number Placeholder 3"/>
          <p:cNvSpPr>
            <a:spLocks noGrp="1"/>
          </p:cNvSpPr>
          <p:nvPr>
            <p:ph type="sldNum" sz="quarter" idx="5"/>
          </p:nvPr>
        </p:nvSpPr>
        <p:spPr/>
        <p:txBody>
          <a:bodyPr/>
          <a:lstStyle/>
          <a:p>
            <a:fld id="{45C81AD3-1E20-4F2D-A5E7-ABD0AED9387C}" type="slidenum">
              <a:rPr lang="en-US" smtClean="0"/>
              <a:t>12</a:t>
            </a:fld>
            <a:endParaRPr lang="en-US"/>
          </a:p>
        </p:txBody>
      </p:sp>
    </p:spTree>
    <p:extLst>
      <p:ext uri="{BB962C8B-B14F-4D97-AF65-F5344CB8AC3E}">
        <p14:creationId xmlns:p14="http://schemas.microsoft.com/office/powerpoint/2010/main" val="863607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final product will “hopefully” be a computer-generated diagram relating the tracks and drivers and correlating each driver to a track they are consistently good at, and what the characteristics of that track it. This means that, using this information, I can figure out what type of driver each driver on the grid is, and see what anomalies there are, (i.e. drivers who are good at all the tracks, who overcome conditions that they are not supposedly good at, who really is the “goat” of F1?)</a:t>
            </a:r>
          </a:p>
        </p:txBody>
      </p:sp>
      <p:sp>
        <p:nvSpPr>
          <p:cNvPr id="4" name="Slide Number Placeholder 3"/>
          <p:cNvSpPr>
            <a:spLocks noGrp="1"/>
          </p:cNvSpPr>
          <p:nvPr>
            <p:ph type="sldNum" sz="quarter" idx="5"/>
          </p:nvPr>
        </p:nvSpPr>
        <p:spPr/>
        <p:txBody>
          <a:bodyPr/>
          <a:lstStyle/>
          <a:p>
            <a:fld id="{45C81AD3-1E20-4F2D-A5E7-ABD0AED9387C}" type="slidenum">
              <a:rPr lang="en-US" smtClean="0"/>
              <a:t>14</a:t>
            </a:fld>
            <a:endParaRPr lang="en-US"/>
          </a:p>
        </p:txBody>
      </p:sp>
    </p:spTree>
    <p:extLst>
      <p:ext uri="{BB962C8B-B14F-4D97-AF65-F5344CB8AC3E}">
        <p14:creationId xmlns:p14="http://schemas.microsoft.com/office/powerpoint/2010/main" val="1940019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1 is only becoming more popular, with the release of the f1 movie and shows like drive to survive making it more accessible to understand the sport. The hallmark 2021 season was a big factor in popularity, as it brought in many fans with the tense storyline of Max Verstappen versus Lewis Hamilton, and they were going into the final race tied in points, the script essentially wrote itself. Formula 1 is only growing, and with it its influence.</a:t>
            </a:r>
          </a:p>
        </p:txBody>
      </p:sp>
      <p:sp>
        <p:nvSpPr>
          <p:cNvPr id="4" name="Slide Number Placeholder 3"/>
          <p:cNvSpPr>
            <a:spLocks noGrp="1"/>
          </p:cNvSpPr>
          <p:nvPr>
            <p:ph type="sldNum" sz="quarter" idx="5"/>
          </p:nvPr>
        </p:nvSpPr>
        <p:spPr/>
        <p:txBody>
          <a:bodyPr/>
          <a:lstStyle/>
          <a:p>
            <a:fld id="{45C81AD3-1E20-4F2D-A5E7-ABD0AED9387C}" type="slidenum">
              <a:rPr lang="en-US" smtClean="0"/>
              <a:t>15</a:t>
            </a:fld>
            <a:endParaRPr lang="en-US"/>
          </a:p>
        </p:txBody>
      </p:sp>
    </p:spTree>
    <p:extLst>
      <p:ext uri="{BB962C8B-B14F-4D97-AF65-F5344CB8AC3E}">
        <p14:creationId xmlns:p14="http://schemas.microsoft.com/office/powerpoint/2010/main" val="91040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3E05-A88B-A497-BD13-7BD1632393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BEAD17-7053-A213-8C03-8F4BBB6D2A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F33E67-CA8A-FF25-D39C-39407FD30ED2}"/>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5" name="Footer Placeholder 4">
            <a:extLst>
              <a:ext uri="{FF2B5EF4-FFF2-40B4-BE49-F238E27FC236}">
                <a16:creationId xmlns:a16="http://schemas.microsoft.com/office/drawing/2014/main" id="{00F60230-3156-18C9-86B6-5F4075F12D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EEA0B-0700-CDE1-A7C5-267826AE0A47}"/>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2267246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938B9-B0E5-6614-3F32-B30D498362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6FA04B-332C-38A1-4E36-7CCD287CB9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E4564E-1236-F6C7-3AA7-562F39EAF35E}"/>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5" name="Footer Placeholder 4">
            <a:extLst>
              <a:ext uri="{FF2B5EF4-FFF2-40B4-BE49-F238E27FC236}">
                <a16:creationId xmlns:a16="http://schemas.microsoft.com/office/drawing/2014/main" id="{C548C157-AA14-2FE1-6C38-9B222A5ED0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8947A-DC56-EC24-F0B3-E01DD32B99A7}"/>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2578088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A93F-968A-830D-BE58-89617E5887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C3D747-B3BA-0728-4439-1C05A54982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DCF2D8-646C-EC65-7418-EF4AD8C607C7}"/>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5" name="Footer Placeholder 4">
            <a:extLst>
              <a:ext uri="{FF2B5EF4-FFF2-40B4-BE49-F238E27FC236}">
                <a16:creationId xmlns:a16="http://schemas.microsoft.com/office/drawing/2014/main" id="{ADD308F8-7276-DECA-E058-8A621B3A17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AFC3B8-DB68-8042-1F3A-3BF760C74F6D}"/>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1754270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7DD32-C0BE-5BF1-EB55-B88C87BC44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00AFCD-B865-59FC-1FF3-66B54DED7C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6C8C7F-671F-088B-9DBC-E104DB02FB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20F5AA-C0A7-717F-F0F4-9600E084A322}"/>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6" name="Footer Placeholder 5">
            <a:extLst>
              <a:ext uri="{FF2B5EF4-FFF2-40B4-BE49-F238E27FC236}">
                <a16:creationId xmlns:a16="http://schemas.microsoft.com/office/drawing/2014/main" id="{853EED8B-8114-F600-BF28-CCD15987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35C3AB-6268-3B27-E68D-123FFE888804}"/>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1436644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61C9-A4E6-73C5-8A04-B68035CDE6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124A7E-5244-F53A-98A7-9FA9F2C6A4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AAFD16-8644-9DD6-C2EC-23FF7E7830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CDAA7F-8C80-F604-8BF1-314682A572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780FF3-98F5-25B2-E8CC-A397A0F7C5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555ED8-88E2-54C0-F4F7-23A02CD1CE2A}"/>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8" name="Footer Placeholder 7">
            <a:extLst>
              <a:ext uri="{FF2B5EF4-FFF2-40B4-BE49-F238E27FC236}">
                <a16:creationId xmlns:a16="http://schemas.microsoft.com/office/drawing/2014/main" id="{4D0D3DDC-E3CE-4DD7-9BBB-7F61132471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D91FC5-859A-3185-1EE5-24BB181E57EC}"/>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3319508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C9AB8-9979-E514-7DF7-7DC9E2591D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E6D744-F1E2-433A-3B40-39CDC0E00B28}"/>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4" name="Footer Placeholder 3">
            <a:extLst>
              <a:ext uri="{FF2B5EF4-FFF2-40B4-BE49-F238E27FC236}">
                <a16:creationId xmlns:a16="http://schemas.microsoft.com/office/drawing/2014/main" id="{FB174DC1-CA88-38C7-F672-079C582DA4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2073A0-55F6-273E-C76C-64B7B83001E3}"/>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4124391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2561D0-C6BA-E4F3-D1CD-7AAA7BBB0797}"/>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3" name="Footer Placeholder 2">
            <a:extLst>
              <a:ext uri="{FF2B5EF4-FFF2-40B4-BE49-F238E27FC236}">
                <a16:creationId xmlns:a16="http://schemas.microsoft.com/office/drawing/2014/main" id="{DC466963-3E34-BC4B-A24D-7AC2C2C496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36CC24-B6E0-2FBD-0C4B-ECBC3B15A006}"/>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2371810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67BA-15AB-480B-7BFA-D28E463DB6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A3A10D-9590-81BE-17DF-441CA2209F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66BDEE-17A1-C56E-3DCA-299A475766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8AE5A8-58D3-4249-4988-D46B592A5173}"/>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6" name="Footer Placeholder 5">
            <a:extLst>
              <a:ext uri="{FF2B5EF4-FFF2-40B4-BE49-F238E27FC236}">
                <a16:creationId xmlns:a16="http://schemas.microsoft.com/office/drawing/2014/main" id="{303DDB2B-C301-4E10-06AB-49DF21896B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7A711B-5D31-FCC8-94FB-C12A65D944CF}"/>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3502312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53168-1D51-9E92-8750-8C0A80369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0A2D22-2D83-FDB2-42CC-DC013EB29B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02FF71-10C5-C157-B8BE-FED71C60E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4A8C28-C278-502E-37FE-11C1BEADCD73}"/>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6" name="Footer Placeholder 5">
            <a:extLst>
              <a:ext uri="{FF2B5EF4-FFF2-40B4-BE49-F238E27FC236}">
                <a16:creationId xmlns:a16="http://schemas.microsoft.com/office/drawing/2014/main" id="{90D28A97-6DC4-2C89-BA4E-3D45B35B87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F731D9-43E7-DBE2-4810-20AE306CA2CA}"/>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850816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C772-8DD5-C080-B127-6A05FCE564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7FA0DC-A315-2080-3D39-F5B8B65F32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663DE5-10F8-758B-2351-5DBD6A4ED1EE}"/>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5" name="Footer Placeholder 4">
            <a:extLst>
              <a:ext uri="{FF2B5EF4-FFF2-40B4-BE49-F238E27FC236}">
                <a16:creationId xmlns:a16="http://schemas.microsoft.com/office/drawing/2014/main" id="{4BA8EF72-CA7F-8A30-7BFA-DE3577C8ED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28D3A6-7173-FB74-8EE4-3E698E883053}"/>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205314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CC6EA2-1442-B0B3-9EC9-3049FFFD7A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1EBBD-1CFD-8070-1326-C88F4F1577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0BF6A0-29B3-8188-9174-A6F79FECBDC5}"/>
              </a:ext>
            </a:extLst>
          </p:cNvPr>
          <p:cNvSpPr>
            <a:spLocks noGrp="1"/>
          </p:cNvSpPr>
          <p:nvPr>
            <p:ph type="dt" sz="half" idx="10"/>
          </p:nvPr>
        </p:nvSpPr>
        <p:spPr/>
        <p:txBody>
          <a:bodyPr/>
          <a:lstStyle/>
          <a:p>
            <a:fld id="{CE86112B-E21F-4464-A6F6-720BC6099DE2}" type="datetimeFigureOut">
              <a:rPr lang="en-US" smtClean="0"/>
              <a:t>12/6/2025</a:t>
            </a:fld>
            <a:endParaRPr lang="en-US"/>
          </a:p>
        </p:txBody>
      </p:sp>
      <p:sp>
        <p:nvSpPr>
          <p:cNvPr id="5" name="Footer Placeholder 4">
            <a:extLst>
              <a:ext uri="{FF2B5EF4-FFF2-40B4-BE49-F238E27FC236}">
                <a16:creationId xmlns:a16="http://schemas.microsoft.com/office/drawing/2014/main" id="{24FDCFC8-BB6C-85A5-D1D2-7404F0E3D1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DC7F8C-4EA1-0E17-56F0-0A33FBADA915}"/>
              </a:ext>
            </a:extLst>
          </p:cNvPr>
          <p:cNvSpPr>
            <a:spLocks noGrp="1"/>
          </p:cNvSpPr>
          <p:nvPr>
            <p:ph type="sldNum" sz="quarter" idx="12"/>
          </p:nvPr>
        </p:nvSpPr>
        <p:spPr/>
        <p:txBody>
          <a:bodyPr/>
          <a:lstStyle/>
          <a:p>
            <a:fld id="{D4AE3217-254D-4F7C-96D3-C32ABE7679D4}" type="slidenum">
              <a:rPr lang="en-US" smtClean="0"/>
              <a:t>‹#›</a:t>
            </a:fld>
            <a:endParaRPr lang="en-US"/>
          </a:p>
        </p:txBody>
      </p:sp>
    </p:spTree>
    <p:extLst>
      <p:ext uri="{BB962C8B-B14F-4D97-AF65-F5344CB8AC3E}">
        <p14:creationId xmlns:p14="http://schemas.microsoft.com/office/powerpoint/2010/main" val="4034437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1ABBAD-01D0-376A-2173-7E71B6559C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9D4DBB-B381-7BC6-37CF-C530FDD16E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C96ADA-E59C-3555-0503-75D6E8AFE5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86112B-E21F-4464-A6F6-720BC6099DE2}" type="datetimeFigureOut">
              <a:rPr lang="en-US" smtClean="0"/>
              <a:t>12/6/2025</a:t>
            </a:fld>
            <a:endParaRPr lang="en-US"/>
          </a:p>
        </p:txBody>
      </p:sp>
      <p:sp>
        <p:nvSpPr>
          <p:cNvPr id="5" name="Footer Placeholder 4">
            <a:extLst>
              <a:ext uri="{FF2B5EF4-FFF2-40B4-BE49-F238E27FC236}">
                <a16:creationId xmlns:a16="http://schemas.microsoft.com/office/drawing/2014/main" id="{F079FC4C-4D17-2864-586F-F2A0373B98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4889DE-75B2-BBB1-BB39-C9621786B5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AE3217-254D-4F7C-96D3-C32ABE7679D4}" type="slidenum">
              <a:rPr lang="en-US" smtClean="0"/>
              <a:t>‹#›</a:t>
            </a:fld>
            <a:endParaRPr lang="en-US"/>
          </a:p>
        </p:txBody>
      </p:sp>
    </p:spTree>
    <p:extLst>
      <p:ext uri="{BB962C8B-B14F-4D97-AF65-F5344CB8AC3E}">
        <p14:creationId xmlns:p14="http://schemas.microsoft.com/office/powerpoint/2010/main" val="2291249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notesSlide" Target="../notesSlides/notesSlide11.xml"/><Relationship Id="rId7"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video" Target="https://www.youtube.com/embed/8skLAmcQEX4?feature=oembed" TargetMode="Externa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race car on a track&#10;&#10;AI-generated content may be incorrect.">
            <a:extLst>
              <a:ext uri="{FF2B5EF4-FFF2-40B4-BE49-F238E27FC236}">
                <a16:creationId xmlns:a16="http://schemas.microsoft.com/office/drawing/2014/main" id="{539B2BFC-5763-F2B0-2B16-AC40BE2AE59E}"/>
              </a:ext>
            </a:extLst>
          </p:cNvPr>
          <p:cNvPicPr>
            <a:picLocks noChangeAspect="1"/>
          </p:cNvPicPr>
          <p:nvPr/>
        </p:nvPicPr>
        <p:blipFill>
          <a:blip r:embed="rId2">
            <a:extLst>
              <a:ext uri="{28A0092B-C50C-407E-A947-70E740481C1C}">
                <a14:useLocalDpi xmlns:a14="http://schemas.microsoft.com/office/drawing/2010/main" val="0"/>
              </a:ext>
            </a:extLst>
          </a:blip>
          <a:srcRect l="1464" r="19225"/>
          <a:stretch>
            <a:fillRect/>
          </a:stretch>
        </p:blipFill>
        <p:spPr>
          <a:xfrm>
            <a:off x="2522358" y="10"/>
            <a:ext cx="9669642" cy="6857990"/>
          </a:xfrm>
          <a:prstGeom prst="rect">
            <a:avLst/>
          </a:prstGeom>
        </p:spPr>
      </p:pic>
      <p:sp>
        <p:nvSpPr>
          <p:cNvPr id="24" name="Rectangle 23">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E6ECED-6CAE-F3E8-8D20-EA9B283DFA4D}"/>
              </a:ext>
            </a:extLst>
          </p:cNvPr>
          <p:cNvSpPr>
            <a:spLocks noGrp="1"/>
          </p:cNvSpPr>
          <p:nvPr>
            <p:ph type="ctrTitle"/>
          </p:nvPr>
        </p:nvSpPr>
        <p:spPr>
          <a:xfrm>
            <a:off x="952228" y="743447"/>
            <a:ext cx="3973385" cy="3692028"/>
          </a:xfrm>
          <a:noFill/>
        </p:spPr>
        <p:txBody>
          <a:bodyPr>
            <a:normAutofit/>
          </a:bodyPr>
          <a:lstStyle/>
          <a:p>
            <a:pPr algn="l"/>
            <a:r>
              <a:rPr lang="en-US" sz="5200" b="1" dirty="0">
                <a:latin typeface="Bahnschrift" panose="020B0502040204020203" pitchFamily="34" charset="0"/>
              </a:rPr>
              <a:t>The Data Fueling Formula 1</a:t>
            </a:r>
          </a:p>
        </p:txBody>
      </p:sp>
      <p:sp>
        <p:nvSpPr>
          <p:cNvPr id="3" name="Subtitle 2">
            <a:extLst>
              <a:ext uri="{FF2B5EF4-FFF2-40B4-BE49-F238E27FC236}">
                <a16:creationId xmlns:a16="http://schemas.microsoft.com/office/drawing/2014/main" id="{4B823714-97B7-20E7-0F57-2205ECFFFA4F}"/>
              </a:ext>
            </a:extLst>
          </p:cNvPr>
          <p:cNvSpPr>
            <a:spLocks noGrp="1"/>
          </p:cNvSpPr>
          <p:nvPr>
            <p:ph type="subTitle" idx="1"/>
          </p:nvPr>
        </p:nvSpPr>
        <p:spPr>
          <a:xfrm>
            <a:off x="952229" y="4629234"/>
            <a:ext cx="3973386" cy="1485319"/>
          </a:xfrm>
          <a:noFill/>
        </p:spPr>
        <p:txBody>
          <a:bodyPr>
            <a:normAutofit/>
          </a:bodyPr>
          <a:lstStyle/>
          <a:p>
            <a:pPr algn="l"/>
            <a:r>
              <a:rPr lang="en-US" dirty="0">
                <a:latin typeface="Bahnschrift" panose="020B0502040204020203" pitchFamily="34" charset="0"/>
              </a:rPr>
              <a:t>Abby Brown</a:t>
            </a:r>
          </a:p>
        </p:txBody>
      </p:sp>
    </p:spTree>
    <p:extLst>
      <p:ext uri="{BB962C8B-B14F-4D97-AF65-F5344CB8AC3E}">
        <p14:creationId xmlns:p14="http://schemas.microsoft.com/office/powerpoint/2010/main" val="392923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8" name="Picture 7" descr="A group of people posing for a photo&#10;&#10;AI-generated content may be incorrect.">
            <a:extLst>
              <a:ext uri="{FF2B5EF4-FFF2-40B4-BE49-F238E27FC236}">
                <a16:creationId xmlns:a16="http://schemas.microsoft.com/office/drawing/2014/main" id="{F473878E-B902-6684-7B17-3A6F66F7811F}"/>
              </a:ext>
            </a:extLst>
          </p:cNvPr>
          <p:cNvPicPr>
            <a:picLocks noChangeAspect="1"/>
          </p:cNvPicPr>
          <p:nvPr/>
        </p:nvPicPr>
        <p:blipFill>
          <a:blip r:embed="rId3">
            <a:alphaModFix amt="60000"/>
            <a:extLst>
              <a:ext uri="{28A0092B-C50C-407E-A947-70E740481C1C}">
                <a14:useLocalDpi xmlns:a14="http://schemas.microsoft.com/office/drawing/2010/main" val="0"/>
              </a:ext>
            </a:extLst>
          </a:blip>
          <a:srcRect/>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5B3D7CC7-0184-094A-D700-3C4944E727AD}"/>
              </a:ext>
            </a:extLst>
          </p:cNvPr>
          <p:cNvSpPr>
            <a:spLocks noGrp="1"/>
          </p:cNvSpPr>
          <p:nvPr>
            <p:ph type="title"/>
          </p:nvPr>
        </p:nvSpPr>
        <p:spPr>
          <a:xfrm>
            <a:off x="838199" y="1671570"/>
            <a:ext cx="5155261" cy="4072044"/>
          </a:xfrm>
        </p:spPr>
        <p:txBody>
          <a:bodyPr anchor="t">
            <a:normAutofit/>
          </a:bodyPr>
          <a:lstStyle/>
          <a:p>
            <a:r>
              <a:rPr lang="en-US" b="1" dirty="0">
                <a:solidFill>
                  <a:srgbClr val="FFFFFF"/>
                </a:solidFill>
                <a:latin typeface="Bahnschrift" panose="020B0502040204020203" pitchFamily="34" charset="0"/>
              </a:rPr>
              <a:t>Overview</a:t>
            </a:r>
          </a:p>
        </p:txBody>
      </p:sp>
      <p:sp>
        <p:nvSpPr>
          <p:cNvPr id="3" name="Content Placeholder 2">
            <a:extLst>
              <a:ext uri="{FF2B5EF4-FFF2-40B4-BE49-F238E27FC236}">
                <a16:creationId xmlns:a16="http://schemas.microsoft.com/office/drawing/2014/main" id="{15CDFDCF-197B-352A-69FC-1B31DFFCE619}"/>
              </a:ext>
            </a:extLst>
          </p:cNvPr>
          <p:cNvSpPr>
            <a:spLocks noGrp="1"/>
          </p:cNvSpPr>
          <p:nvPr>
            <p:ph idx="1"/>
          </p:nvPr>
        </p:nvSpPr>
        <p:spPr>
          <a:xfrm>
            <a:off x="754341" y="2607868"/>
            <a:ext cx="5170861" cy="4072043"/>
          </a:xfrm>
        </p:spPr>
        <p:txBody>
          <a:bodyPr>
            <a:normAutofit/>
          </a:bodyPr>
          <a:lstStyle/>
          <a:p>
            <a:r>
              <a:rPr lang="en-US" sz="2000" b="1" dirty="0">
                <a:solidFill>
                  <a:srgbClr val="FFFFFF"/>
                </a:solidFill>
                <a:latin typeface="Bahnschrift" panose="020B0502040204020203" pitchFamily="34" charset="0"/>
              </a:rPr>
              <a:t>Pinnacle of Motorsport </a:t>
            </a:r>
          </a:p>
          <a:p>
            <a:r>
              <a:rPr lang="en-US" sz="2000" b="1" dirty="0">
                <a:solidFill>
                  <a:srgbClr val="FFFFFF"/>
                </a:solidFill>
                <a:latin typeface="Bahnschrift" panose="020B0502040204020203" pitchFamily="34" charset="0"/>
              </a:rPr>
              <a:t>Open wheel racing </a:t>
            </a:r>
          </a:p>
          <a:p>
            <a:r>
              <a:rPr lang="en-US" sz="2000" b="1" dirty="0">
                <a:solidFill>
                  <a:srgbClr val="FFFFFF"/>
                </a:solidFill>
                <a:latin typeface="Bahnschrift" panose="020B0502040204020203" pitchFamily="34" charset="0"/>
              </a:rPr>
              <a:t>10 teams, 20 drivers </a:t>
            </a:r>
          </a:p>
          <a:p>
            <a:r>
              <a:rPr lang="en-US" sz="2000" b="1" dirty="0">
                <a:solidFill>
                  <a:srgbClr val="FFFFFF"/>
                </a:solidFill>
                <a:latin typeface="Bahnschrift" panose="020B0502040204020203" pitchFamily="34" charset="0"/>
              </a:rPr>
              <a:t>Individual vs. Team Competition</a:t>
            </a:r>
          </a:p>
          <a:p>
            <a:endParaRPr lang="en-US" sz="2000" b="1" dirty="0">
              <a:solidFill>
                <a:srgbClr val="FFFFFF"/>
              </a:solidFill>
              <a:latin typeface="Bahnschrift" panose="020B0502040204020203" pitchFamily="34" charset="0"/>
            </a:endParaRPr>
          </a:p>
        </p:txBody>
      </p:sp>
    </p:spTree>
    <p:extLst>
      <p:ext uri="{BB962C8B-B14F-4D97-AF65-F5344CB8AC3E}">
        <p14:creationId xmlns:p14="http://schemas.microsoft.com/office/powerpoint/2010/main" val="2464019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4" name="Rectangle 6153">
            <a:extLst>
              <a:ext uri="{FF2B5EF4-FFF2-40B4-BE49-F238E27FC236}">
                <a16:creationId xmlns:a16="http://schemas.microsoft.com/office/drawing/2014/main" id="{330D6772-5550-42D5-B8BC-CDE283656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57" name="Rectangle 6156">
            <a:extLst>
              <a:ext uri="{FF2B5EF4-FFF2-40B4-BE49-F238E27FC236}">
                <a16:creationId xmlns:a16="http://schemas.microsoft.com/office/drawing/2014/main" id="{97DB0DD1-0F30-4B7E-A6DC-3DDA7D5B35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6148" name="Picture 4" descr="McLaren Racing to Showcase Three Historic F1 CarsPerformance Racing Industry">
            <a:extLst>
              <a:ext uri="{FF2B5EF4-FFF2-40B4-BE49-F238E27FC236}">
                <a16:creationId xmlns:a16="http://schemas.microsoft.com/office/drawing/2014/main" id="{09D87EAF-61AA-D455-C8DC-1A112E1866A9}"/>
              </a:ext>
            </a:extLst>
          </p:cNvPr>
          <p:cNvPicPr>
            <a:picLocks noChangeAspect="1" noChangeArrowheads="1"/>
          </p:cNvPicPr>
          <p:nvPr/>
        </p:nvPicPr>
        <p:blipFill>
          <a:blip r:embed="rId3">
            <a:alphaModFix amt="60000"/>
            <a:extLst>
              <a:ext uri="{28A0092B-C50C-407E-A947-70E740481C1C}">
                <a14:useLocalDpi xmlns:a14="http://schemas.microsoft.com/office/drawing/2010/main" val="0"/>
              </a:ext>
            </a:extLst>
          </a:blip>
          <a:srcRect l="444"/>
          <a:stretch>
            <a:fillRect/>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F48E626-29D8-BAE9-93C1-473592C55CA9}"/>
              </a:ext>
            </a:extLst>
          </p:cNvPr>
          <p:cNvSpPr>
            <a:spLocks noGrp="1"/>
          </p:cNvSpPr>
          <p:nvPr>
            <p:ph type="title"/>
          </p:nvPr>
        </p:nvSpPr>
        <p:spPr>
          <a:xfrm>
            <a:off x="838199" y="1671569"/>
            <a:ext cx="4155825" cy="4072044"/>
          </a:xfrm>
        </p:spPr>
        <p:txBody>
          <a:bodyPr anchor="t">
            <a:normAutofit/>
          </a:bodyPr>
          <a:lstStyle/>
          <a:p>
            <a:r>
              <a:rPr lang="en-US" b="1" dirty="0">
                <a:solidFill>
                  <a:srgbClr val="FFFFFF"/>
                </a:solidFill>
                <a:latin typeface="Bahnschrift" panose="020B0502040204020203" pitchFamily="34" charset="0"/>
              </a:rPr>
              <a:t>The Cars</a:t>
            </a:r>
          </a:p>
        </p:txBody>
      </p:sp>
      <p:sp>
        <p:nvSpPr>
          <p:cNvPr id="3" name="Content Placeholder 2">
            <a:extLst>
              <a:ext uri="{FF2B5EF4-FFF2-40B4-BE49-F238E27FC236}">
                <a16:creationId xmlns:a16="http://schemas.microsoft.com/office/drawing/2014/main" id="{21682B6A-10E4-CD0B-4897-DE030380D8FE}"/>
              </a:ext>
            </a:extLst>
          </p:cNvPr>
          <p:cNvSpPr>
            <a:spLocks noGrp="1"/>
          </p:cNvSpPr>
          <p:nvPr>
            <p:ph idx="1"/>
          </p:nvPr>
        </p:nvSpPr>
        <p:spPr>
          <a:xfrm>
            <a:off x="5186551" y="1671569"/>
            <a:ext cx="6167248" cy="4072044"/>
          </a:xfrm>
        </p:spPr>
        <p:txBody>
          <a:bodyPr>
            <a:normAutofit/>
          </a:bodyPr>
          <a:lstStyle/>
          <a:p>
            <a:r>
              <a:rPr lang="en-US" sz="2000">
                <a:solidFill>
                  <a:srgbClr val="FFFFFF"/>
                </a:solidFill>
                <a:latin typeface="Bahnschrift" panose="020B0502040204020203" pitchFamily="34" charset="0"/>
              </a:rPr>
              <a:t>Single seat</a:t>
            </a:r>
          </a:p>
          <a:p>
            <a:r>
              <a:rPr lang="en-US" sz="2000">
                <a:solidFill>
                  <a:srgbClr val="FFFFFF"/>
                </a:solidFill>
                <a:latin typeface="Bahnschrift" panose="020B0502040204020203" pitchFamily="34" charset="0"/>
              </a:rPr>
              <a:t>Open wheel</a:t>
            </a:r>
          </a:p>
          <a:p>
            <a:r>
              <a:rPr lang="en-US" sz="2000">
                <a:solidFill>
                  <a:srgbClr val="FFFFFF"/>
                </a:solidFill>
                <a:latin typeface="Bahnschrift" panose="020B0502040204020203" pitchFamily="34" charset="0"/>
              </a:rPr>
              <a:t>Hybrids </a:t>
            </a:r>
          </a:p>
          <a:p>
            <a:r>
              <a:rPr lang="en-US" sz="2000">
                <a:solidFill>
                  <a:srgbClr val="FFFFFF"/>
                </a:solidFill>
                <a:latin typeface="Bahnschrift" panose="020B0502040204020203" pitchFamily="34" charset="0"/>
              </a:rPr>
              <a:t>Speeds up to 220+ mph</a:t>
            </a:r>
          </a:p>
        </p:txBody>
      </p:sp>
    </p:spTree>
    <p:extLst>
      <p:ext uri="{BB962C8B-B14F-4D97-AF65-F5344CB8AC3E}">
        <p14:creationId xmlns:p14="http://schemas.microsoft.com/office/powerpoint/2010/main" val="201258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race car on a track with a crowd watching&#10;&#10;AI-generated content may be incorrect.">
            <a:extLst>
              <a:ext uri="{FF2B5EF4-FFF2-40B4-BE49-F238E27FC236}">
                <a16:creationId xmlns:a16="http://schemas.microsoft.com/office/drawing/2014/main" id="{0E580FC3-7915-7DF9-275D-061A8ED3C92F}"/>
              </a:ext>
            </a:extLst>
          </p:cNvPr>
          <p:cNvPicPr>
            <a:picLocks noChangeAspect="1"/>
          </p:cNvPicPr>
          <p:nvPr/>
        </p:nvPicPr>
        <p:blipFill>
          <a:blip r:embed="rId3">
            <a:extLst>
              <a:ext uri="{28A0092B-C50C-407E-A947-70E740481C1C}">
                <a14:useLocalDpi xmlns:a14="http://schemas.microsoft.com/office/drawing/2010/main" val="0"/>
              </a:ext>
            </a:extLst>
          </a:blip>
          <a:srcRect l="1464" r="19225"/>
          <a:stretch>
            <a:fillRect/>
          </a:stretch>
        </p:blipFill>
        <p:spPr>
          <a:xfrm>
            <a:off x="2522356" y="10"/>
            <a:ext cx="9669642" cy="6857990"/>
          </a:xfrm>
          <a:prstGeom prst="rect">
            <a:avLst/>
          </a:prstGeom>
        </p:spPr>
      </p:pic>
      <p:sp>
        <p:nvSpPr>
          <p:cNvPr id="18" name="Rectangle 1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D86EE5-7B0F-BF31-B862-F884028716A2}"/>
              </a:ext>
            </a:extLst>
          </p:cNvPr>
          <p:cNvSpPr>
            <a:spLocks noGrp="1"/>
          </p:cNvSpPr>
          <p:nvPr>
            <p:ph type="title"/>
          </p:nvPr>
        </p:nvSpPr>
        <p:spPr>
          <a:xfrm>
            <a:off x="838200" y="365125"/>
            <a:ext cx="3822189" cy="1899912"/>
          </a:xfrm>
        </p:spPr>
        <p:txBody>
          <a:bodyPr>
            <a:normAutofit/>
          </a:bodyPr>
          <a:lstStyle/>
          <a:p>
            <a:r>
              <a:rPr lang="en-US" sz="4000" b="1" dirty="0">
                <a:latin typeface="Bahnschrift" panose="020B0502040204020203" pitchFamily="34" charset="0"/>
              </a:rPr>
              <a:t>Race Weekend</a:t>
            </a:r>
          </a:p>
        </p:txBody>
      </p:sp>
      <p:sp>
        <p:nvSpPr>
          <p:cNvPr id="3" name="Content Placeholder 2">
            <a:extLst>
              <a:ext uri="{FF2B5EF4-FFF2-40B4-BE49-F238E27FC236}">
                <a16:creationId xmlns:a16="http://schemas.microsoft.com/office/drawing/2014/main" id="{BEDE2224-447B-C82C-403B-53DB0E0F7800}"/>
              </a:ext>
            </a:extLst>
          </p:cNvPr>
          <p:cNvSpPr>
            <a:spLocks noGrp="1"/>
          </p:cNvSpPr>
          <p:nvPr>
            <p:ph idx="1"/>
          </p:nvPr>
        </p:nvSpPr>
        <p:spPr>
          <a:xfrm>
            <a:off x="838200" y="2434201"/>
            <a:ext cx="3822189" cy="3742762"/>
          </a:xfrm>
        </p:spPr>
        <p:txBody>
          <a:bodyPr>
            <a:normAutofit/>
          </a:bodyPr>
          <a:lstStyle/>
          <a:p>
            <a:r>
              <a:rPr lang="en-US" sz="2000" dirty="0">
                <a:latin typeface="Bahnschrift" panose="020B0502040204020203" pitchFamily="34" charset="0"/>
              </a:rPr>
              <a:t>24 races (this year)</a:t>
            </a:r>
          </a:p>
          <a:p>
            <a:r>
              <a:rPr lang="en-US" altLang="en-US" sz="2000" dirty="0">
                <a:latin typeface="Bahnschrift" panose="020B0502040204020203" pitchFamily="34" charset="0"/>
              </a:rPr>
              <a:t>Friday – Practice</a:t>
            </a:r>
          </a:p>
          <a:p>
            <a:r>
              <a:rPr lang="en-US" altLang="en-US" sz="2000" dirty="0">
                <a:latin typeface="Bahnschrift" panose="020B0502040204020203" pitchFamily="34" charset="0"/>
              </a:rPr>
              <a:t>Saturday – Qualifying </a:t>
            </a:r>
          </a:p>
          <a:p>
            <a:r>
              <a:rPr lang="en-US" altLang="en-US" sz="2000" dirty="0">
                <a:latin typeface="Bahnschrift" panose="020B0502040204020203" pitchFamily="34" charset="0"/>
              </a:rPr>
              <a:t>Sunday – Race</a:t>
            </a:r>
          </a:p>
          <a:p>
            <a:r>
              <a:rPr lang="en-US" sz="2000" dirty="0">
                <a:latin typeface="Bahnschrift" panose="020B0502040204020203" pitchFamily="34" charset="0"/>
              </a:rPr>
              <a:t>Points Breakdown</a:t>
            </a:r>
          </a:p>
          <a:p>
            <a:pPr marL="457200" lvl="1" indent="0" eaLnBrk="0" fontAlgn="base" hangingPunct="0">
              <a:spcBef>
                <a:spcPct val="0"/>
              </a:spcBef>
              <a:spcAft>
                <a:spcPct val="0"/>
              </a:spcAft>
              <a:buFontTx/>
              <a:buChar char="•"/>
            </a:pPr>
            <a:endParaRPr lang="en-US" sz="2000" dirty="0">
              <a:latin typeface="Bahnschrift" panose="020B0502040204020203" pitchFamily="34" charset="0"/>
            </a:endParaRPr>
          </a:p>
        </p:txBody>
      </p:sp>
    </p:spTree>
    <p:extLst>
      <p:ext uri="{BB962C8B-B14F-4D97-AF65-F5344CB8AC3E}">
        <p14:creationId xmlns:p14="http://schemas.microsoft.com/office/powerpoint/2010/main" val="268982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92" name="Rectangle 7191">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3" name="Rectangle 7192">
            <a:extLst>
              <a:ext uri="{FF2B5EF4-FFF2-40B4-BE49-F238E27FC236}">
                <a16:creationId xmlns:a16="http://schemas.microsoft.com/office/drawing/2014/main" id="{2F36CA75-CFBF-4844-B719-8FE9EBADA9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94" name="Rectangle 7193">
            <a:extLst>
              <a:ext uri="{FF2B5EF4-FFF2-40B4-BE49-F238E27FC236}">
                <a16:creationId xmlns:a16="http://schemas.microsoft.com/office/drawing/2014/main" id="{3D4A84B9-E564-4DD0-97F8-DBF1C460C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95" name="Picture 7194">
            <a:extLst>
              <a:ext uri="{FF2B5EF4-FFF2-40B4-BE49-F238E27FC236}">
                <a16:creationId xmlns:a16="http://schemas.microsoft.com/office/drawing/2014/main" id="{4A599609-F5C2-4A0B-A992-913F814A63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40000"/>
            <a:extLst>
              <a:ext uri="{28A0092B-C50C-407E-A947-70E740481C1C}">
                <a14:useLocalDpi xmlns:a14="http://schemas.microsoft.com/office/drawing/2010/main" val="0"/>
              </a:ext>
            </a:extLst>
          </a:blip>
          <a:stretch>
            <a:fillRect/>
          </a:stretch>
        </p:blipFill>
        <p:spPr>
          <a:xfrm>
            <a:off x="0" y="0"/>
            <a:ext cx="12181172" cy="6858000"/>
          </a:xfrm>
          <a:prstGeom prst="rect">
            <a:avLst/>
          </a:prstGeom>
        </p:spPr>
      </p:pic>
      <p:sp>
        <p:nvSpPr>
          <p:cNvPr id="7196" name="Rectangle 7195">
            <a:extLst>
              <a:ext uri="{FF2B5EF4-FFF2-40B4-BE49-F238E27FC236}">
                <a16:creationId xmlns:a16="http://schemas.microsoft.com/office/drawing/2014/main" id="{102382E0-0A09-46AE-B955-B911CAFE7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91" name="Rectangle 7190">
            <a:extLst>
              <a:ext uri="{FF2B5EF4-FFF2-40B4-BE49-F238E27FC236}">
                <a16:creationId xmlns:a16="http://schemas.microsoft.com/office/drawing/2014/main" id="{7DE75D4A-0965-4973-BE75-DECCAC9A9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172" name="Picture 4" descr="The ten greatest Monaco Grand Prix moments | Autocar">
            <a:extLst>
              <a:ext uri="{FF2B5EF4-FFF2-40B4-BE49-F238E27FC236}">
                <a16:creationId xmlns:a16="http://schemas.microsoft.com/office/drawing/2014/main" id="{894417ED-A931-8B0F-8A0B-F47959D6550E}"/>
              </a:ext>
            </a:extLst>
          </p:cNvPr>
          <p:cNvPicPr>
            <a:picLocks noChangeAspect="1" noChangeArrowheads="1"/>
          </p:cNvPicPr>
          <p:nvPr/>
        </p:nvPicPr>
        <p:blipFill>
          <a:blip r:embed="rId4">
            <a:alphaModFix amt="60000"/>
            <a:extLst>
              <a:ext uri="{28A0092B-C50C-407E-A947-70E740481C1C}">
                <a14:useLocalDpi xmlns:a14="http://schemas.microsoft.com/office/drawing/2010/main" val="0"/>
              </a:ext>
            </a:extLst>
          </a:blip>
          <a:srcRect t="8720" b="6288"/>
          <a:stretch>
            <a:fillRect/>
          </a:stretch>
        </p:blipFill>
        <p:spPr bwMode="auto">
          <a:xfrm>
            <a:off x="6094532" y="10"/>
            <a:ext cx="6093578" cy="3431119"/>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Silverstone Circuit (2025) - All You Need to Know BEFORE You Go (with  Reviews)">
            <a:extLst>
              <a:ext uri="{FF2B5EF4-FFF2-40B4-BE49-F238E27FC236}">
                <a16:creationId xmlns:a16="http://schemas.microsoft.com/office/drawing/2014/main" id="{EACA60C4-A80E-62E9-1050-B543246012B6}"/>
              </a:ext>
            </a:extLst>
          </p:cNvPr>
          <p:cNvPicPr>
            <a:picLocks noChangeAspect="1" noChangeArrowheads="1"/>
          </p:cNvPicPr>
          <p:nvPr/>
        </p:nvPicPr>
        <p:blipFill>
          <a:blip r:embed="rId5">
            <a:alphaModFix amt="60000"/>
            <a:extLst>
              <a:ext uri="{28A0092B-C50C-407E-A947-70E740481C1C}">
                <a14:useLocalDpi xmlns:a14="http://schemas.microsoft.com/office/drawing/2010/main" val="0"/>
              </a:ext>
            </a:extLst>
          </a:blip>
          <a:srcRect t="15645"/>
          <a:stretch>
            <a:fillRect/>
          </a:stretch>
        </p:blipFill>
        <p:spPr bwMode="auto">
          <a:xfrm>
            <a:off x="4763" y="10"/>
            <a:ext cx="6093578" cy="343111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15501CD-3E58-F924-296B-414C20000501}"/>
              </a:ext>
            </a:extLst>
          </p:cNvPr>
          <p:cNvSpPr>
            <a:spLocks noGrp="1"/>
          </p:cNvSpPr>
          <p:nvPr>
            <p:ph type="title"/>
          </p:nvPr>
        </p:nvSpPr>
        <p:spPr>
          <a:xfrm>
            <a:off x="1191965" y="552807"/>
            <a:ext cx="9801854" cy="2790331"/>
          </a:xfrm>
        </p:spPr>
        <p:txBody>
          <a:bodyPr anchor="b">
            <a:normAutofit/>
          </a:bodyPr>
          <a:lstStyle/>
          <a:p>
            <a:pPr algn="ctr"/>
            <a:r>
              <a:rPr lang="en-US" sz="4800" b="1" dirty="0">
                <a:solidFill>
                  <a:srgbClr val="FFFFFF"/>
                </a:solidFill>
                <a:latin typeface="Bahnschrift" panose="020B0502040204020203" pitchFamily="34" charset="0"/>
              </a:rPr>
              <a:t>Tracks</a:t>
            </a:r>
          </a:p>
        </p:txBody>
      </p:sp>
      <p:pic>
        <p:nvPicPr>
          <p:cNvPr id="7176" name="Picture 8" descr="GRANDPRIX247 | Solving the Radillon conundrum at Spa Francorchamps">
            <a:extLst>
              <a:ext uri="{FF2B5EF4-FFF2-40B4-BE49-F238E27FC236}">
                <a16:creationId xmlns:a16="http://schemas.microsoft.com/office/drawing/2014/main" id="{DB30532B-BDD2-DF46-B10F-9FD4A60AA523}"/>
              </a:ext>
            </a:extLst>
          </p:cNvPr>
          <p:cNvPicPr>
            <a:picLocks noChangeAspect="1" noChangeArrowheads="1"/>
          </p:cNvPicPr>
          <p:nvPr/>
        </p:nvPicPr>
        <p:blipFill>
          <a:blip r:embed="rId6">
            <a:alphaModFix amt="60000"/>
            <a:extLst>
              <a:ext uri="{28A0092B-C50C-407E-A947-70E740481C1C}">
                <a14:useLocalDpi xmlns:a14="http://schemas.microsoft.com/office/drawing/2010/main" val="0"/>
              </a:ext>
            </a:extLst>
          </a:blip>
          <a:srcRect t="227" b="15418"/>
          <a:stretch>
            <a:fillRect/>
          </a:stretch>
        </p:blipFill>
        <p:spPr bwMode="auto">
          <a:xfrm>
            <a:off x="6097280" y="3426870"/>
            <a:ext cx="6093578" cy="3431129"/>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The Monaco Grand Prix: Everything You Need To Know About F1's Most Iconic  Event">
            <a:extLst>
              <a:ext uri="{FF2B5EF4-FFF2-40B4-BE49-F238E27FC236}">
                <a16:creationId xmlns:a16="http://schemas.microsoft.com/office/drawing/2014/main" id="{78098038-A829-655B-5947-12AF40F7FF0F}"/>
              </a:ext>
            </a:extLst>
          </p:cNvPr>
          <p:cNvPicPr>
            <a:picLocks noChangeAspect="1" noChangeArrowheads="1"/>
          </p:cNvPicPr>
          <p:nvPr/>
        </p:nvPicPr>
        <p:blipFill>
          <a:blip r:embed="rId7">
            <a:alphaModFix amt="60000"/>
            <a:extLst>
              <a:ext uri="{28A0092B-C50C-407E-A947-70E740481C1C}">
                <a14:useLocalDpi xmlns:a14="http://schemas.microsoft.com/office/drawing/2010/main" val="0"/>
              </a:ext>
            </a:extLst>
          </a:blip>
          <a:srcRect l="102" r="-3" b="-3"/>
          <a:stretch>
            <a:fillRect/>
          </a:stretch>
        </p:blipFill>
        <p:spPr bwMode="auto">
          <a:xfrm>
            <a:off x="7511" y="3426870"/>
            <a:ext cx="6093578" cy="343112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390DB0D-FC1B-39FD-9429-A8D84E670CA5}"/>
              </a:ext>
            </a:extLst>
          </p:cNvPr>
          <p:cNvSpPr>
            <a:spLocks noGrp="1"/>
          </p:cNvSpPr>
          <p:nvPr>
            <p:ph idx="1"/>
          </p:nvPr>
        </p:nvSpPr>
        <p:spPr>
          <a:xfrm>
            <a:off x="1191966" y="3510476"/>
            <a:ext cx="9801854" cy="2614231"/>
          </a:xfrm>
        </p:spPr>
        <p:txBody>
          <a:bodyPr anchor="t">
            <a:normAutofit/>
          </a:bodyPr>
          <a:lstStyle/>
          <a:p>
            <a:pPr algn="ctr"/>
            <a:r>
              <a:rPr lang="en-US" dirty="0">
                <a:solidFill>
                  <a:srgbClr val="FFFFFF"/>
                </a:solidFill>
                <a:latin typeface="Bahnschrift" panose="020B0502040204020203" pitchFamily="34" charset="0"/>
              </a:rPr>
              <a:t>Monaco</a:t>
            </a:r>
          </a:p>
          <a:p>
            <a:pPr algn="ctr"/>
            <a:r>
              <a:rPr lang="en-US" dirty="0">
                <a:solidFill>
                  <a:srgbClr val="FFFFFF"/>
                </a:solidFill>
                <a:latin typeface="Bahnschrift" panose="020B0502040204020203" pitchFamily="34" charset="0"/>
              </a:rPr>
              <a:t>Silverstone </a:t>
            </a:r>
          </a:p>
          <a:p>
            <a:pPr algn="ctr"/>
            <a:r>
              <a:rPr lang="en-US" dirty="0">
                <a:solidFill>
                  <a:srgbClr val="FFFFFF"/>
                </a:solidFill>
                <a:latin typeface="Bahnschrift" panose="020B0502040204020203" pitchFamily="34" charset="0"/>
              </a:rPr>
              <a:t>Spa</a:t>
            </a:r>
          </a:p>
        </p:txBody>
      </p:sp>
    </p:spTree>
    <p:extLst>
      <p:ext uri="{BB962C8B-B14F-4D97-AF65-F5344CB8AC3E}">
        <p14:creationId xmlns:p14="http://schemas.microsoft.com/office/powerpoint/2010/main" val="2155131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Toto Wolff &quot;losing faith&quot; in FIA stewards after &quot;laughable&quot; decision -  GPFans.com">
            <a:extLst>
              <a:ext uri="{FF2B5EF4-FFF2-40B4-BE49-F238E27FC236}">
                <a16:creationId xmlns:a16="http://schemas.microsoft.com/office/drawing/2014/main" id="{5A59BF81-E4D8-18D7-7534-B57D741392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882" b="-1"/>
          <a:stretch>
            <a:fillRect/>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0" name="Rectangle 103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1B5F48-A00A-AF25-721E-02334AAF27BE}"/>
              </a:ext>
            </a:extLst>
          </p:cNvPr>
          <p:cNvSpPr>
            <a:spLocks noGrp="1"/>
          </p:cNvSpPr>
          <p:nvPr>
            <p:ph type="title"/>
          </p:nvPr>
        </p:nvSpPr>
        <p:spPr>
          <a:xfrm>
            <a:off x="838200" y="365125"/>
            <a:ext cx="3822189" cy="1899912"/>
          </a:xfrm>
        </p:spPr>
        <p:txBody>
          <a:bodyPr>
            <a:normAutofit/>
          </a:bodyPr>
          <a:lstStyle/>
          <a:p>
            <a:r>
              <a:rPr lang="en-US" sz="4000" dirty="0">
                <a:latin typeface="Bahnschrift" panose="020B0502040204020203" pitchFamily="34" charset="0"/>
              </a:rPr>
              <a:t>Initial Questions </a:t>
            </a:r>
          </a:p>
        </p:txBody>
      </p:sp>
      <p:sp>
        <p:nvSpPr>
          <p:cNvPr id="3" name="Content Placeholder 2">
            <a:extLst>
              <a:ext uri="{FF2B5EF4-FFF2-40B4-BE49-F238E27FC236}">
                <a16:creationId xmlns:a16="http://schemas.microsoft.com/office/drawing/2014/main" id="{6F0938BA-16A3-DFAA-1305-58D3EC430003}"/>
              </a:ext>
            </a:extLst>
          </p:cNvPr>
          <p:cNvSpPr>
            <a:spLocks noGrp="1"/>
          </p:cNvSpPr>
          <p:nvPr>
            <p:ph idx="1"/>
          </p:nvPr>
        </p:nvSpPr>
        <p:spPr>
          <a:xfrm>
            <a:off x="449445" y="1881181"/>
            <a:ext cx="4467510" cy="4722211"/>
          </a:xfrm>
        </p:spPr>
        <p:txBody>
          <a:bodyPr>
            <a:noAutofit/>
          </a:bodyPr>
          <a:lstStyle/>
          <a:p>
            <a:r>
              <a:rPr lang="en-US" sz="2200" i="1" dirty="0">
                <a:latin typeface="Bahnschrift" panose="020B0502040204020203" pitchFamily="34" charset="0"/>
              </a:rPr>
              <a:t>Is it possible to predict F1 race results using practice and qualifying data? </a:t>
            </a:r>
          </a:p>
          <a:p>
            <a:r>
              <a:rPr lang="en-US" sz="2200" i="1" dirty="0">
                <a:latin typeface="Bahnschrift" panose="020B0502040204020203" pitchFamily="34" charset="0"/>
              </a:rPr>
              <a:t>Is it possible to predict F1 race results based on sprint results? </a:t>
            </a:r>
          </a:p>
          <a:p>
            <a:r>
              <a:rPr lang="en-US" sz="2200" i="1" dirty="0">
                <a:latin typeface="Bahnschrift" panose="020B0502040204020203" pitchFamily="34" charset="0"/>
              </a:rPr>
              <a:t>Is it possible to predict the fastest lap times of a driver based on qualifying data? </a:t>
            </a:r>
          </a:p>
          <a:p>
            <a:r>
              <a:rPr lang="en-US" sz="2200" i="1" dirty="0">
                <a:latin typeface="Bahnschrift" panose="020B0502040204020203" pitchFamily="34" charset="0"/>
              </a:rPr>
              <a:t>Is it possible to predict one driver's qualifying time based on their teammate? </a:t>
            </a:r>
          </a:p>
          <a:p>
            <a:r>
              <a:rPr lang="en-US" sz="2200" i="1" dirty="0">
                <a:latin typeface="Bahnschrift" panose="020B0502040204020203" pitchFamily="34" charset="0"/>
              </a:rPr>
              <a:t>Is it possible to predict the qualifying position based on data from practices?</a:t>
            </a:r>
            <a:endParaRPr lang="en-US" sz="2200" b="1" dirty="0">
              <a:effectLst/>
              <a:latin typeface="Bahnschrift" panose="020B0502040204020203" pitchFamily="34" charset="0"/>
            </a:endParaRPr>
          </a:p>
          <a:p>
            <a:endParaRPr lang="en-US" sz="2200" dirty="0">
              <a:latin typeface="Bahnschrift" panose="020B0502040204020203" pitchFamily="34" charset="0"/>
            </a:endParaRPr>
          </a:p>
        </p:txBody>
      </p:sp>
      <p:sp>
        <p:nvSpPr>
          <p:cNvPr id="4" name="TextBox 3">
            <a:extLst>
              <a:ext uri="{FF2B5EF4-FFF2-40B4-BE49-F238E27FC236}">
                <a16:creationId xmlns:a16="http://schemas.microsoft.com/office/drawing/2014/main" id="{9A8C6E01-EFD8-D5D8-769E-38AB93E68FD4}"/>
              </a:ext>
            </a:extLst>
          </p:cNvPr>
          <p:cNvSpPr txBox="1"/>
          <p:nvPr/>
        </p:nvSpPr>
        <p:spPr>
          <a:xfrm>
            <a:off x="6247487" y="908925"/>
            <a:ext cx="3662082" cy="769441"/>
          </a:xfrm>
          <a:prstGeom prst="rect">
            <a:avLst/>
          </a:prstGeom>
          <a:noFill/>
        </p:spPr>
        <p:txBody>
          <a:bodyPr wrap="square" rtlCol="0">
            <a:spAutoFit/>
          </a:bodyPr>
          <a:lstStyle/>
          <a:p>
            <a:r>
              <a:rPr lang="en-US" sz="4400" b="1" dirty="0">
                <a:solidFill>
                  <a:srgbClr val="FF0000"/>
                </a:solidFill>
              </a:rPr>
              <a:t>No</a:t>
            </a:r>
          </a:p>
        </p:txBody>
      </p:sp>
      <p:sp>
        <p:nvSpPr>
          <p:cNvPr id="6" name="TextBox 5">
            <a:extLst>
              <a:ext uri="{FF2B5EF4-FFF2-40B4-BE49-F238E27FC236}">
                <a16:creationId xmlns:a16="http://schemas.microsoft.com/office/drawing/2014/main" id="{524B5950-1B5D-4E73-CD76-08C612B6E841}"/>
              </a:ext>
            </a:extLst>
          </p:cNvPr>
          <p:cNvSpPr txBox="1"/>
          <p:nvPr/>
        </p:nvSpPr>
        <p:spPr>
          <a:xfrm>
            <a:off x="5289289" y="1466506"/>
            <a:ext cx="3662082" cy="1446550"/>
          </a:xfrm>
          <a:prstGeom prst="rect">
            <a:avLst/>
          </a:prstGeom>
          <a:noFill/>
        </p:spPr>
        <p:txBody>
          <a:bodyPr wrap="square" rtlCol="0">
            <a:spAutoFit/>
          </a:bodyPr>
          <a:lstStyle/>
          <a:p>
            <a:r>
              <a:rPr lang="en-US" sz="4400" b="1" dirty="0">
                <a:solidFill>
                  <a:srgbClr val="FF0000"/>
                </a:solidFill>
              </a:rPr>
              <a:t>Well, not for me</a:t>
            </a:r>
          </a:p>
        </p:txBody>
      </p:sp>
    </p:spTree>
    <p:extLst>
      <p:ext uri="{BB962C8B-B14F-4D97-AF65-F5344CB8AC3E}">
        <p14:creationId xmlns:p14="http://schemas.microsoft.com/office/powerpoint/2010/main" val="118696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9" name="Rectangle 2068">
            <a:extLst>
              <a:ext uri="{FF2B5EF4-FFF2-40B4-BE49-F238E27FC236}">
                <a16:creationId xmlns:a16="http://schemas.microsoft.com/office/drawing/2014/main" id="{50DF6B93-F3AC-40E0-8651-89582E5E8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Rectangle 2070">
            <a:extLst>
              <a:ext uri="{FF2B5EF4-FFF2-40B4-BE49-F238E27FC236}">
                <a16:creationId xmlns:a16="http://schemas.microsoft.com/office/drawing/2014/main" id="{E8027539-FDC1-4BD7-ABD3-2C9688465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153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3" name="Rectangle 2072">
            <a:extLst>
              <a:ext uri="{FF2B5EF4-FFF2-40B4-BE49-F238E27FC236}">
                <a16:creationId xmlns:a16="http://schemas.microsoft.com/office/drawing/2014/main" id="{8746EFA5-E6C7-4867-8011-E729148E8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685800"/>
            <a:ext cx="6742953" cy="5486400"/>
          </a:xfrm>
          <a:prstGeom prst="rect">
            <a:avLst/>
          </a:pr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0861DA-BE69-6220-6E3D-8870278A37EA}"/>
              </a:ext>
            </a:extLst>
          </p:cNvPr>
          <p:cNvSpPr>
            <a:spLocks noGrp="1"/>
          </p:cNvSpPr>
          <p:nvPr>
            <p:ph type="title"/>
          </p:nvPr>
        </p:nvSpPr>
        <p:spPr>
          <a:xfrm>
            <a:off x="1335799" y="1158949"/>
            <a:ext cx="5461225" cy="1118087"/>
          </a:xfrm>
        </p:spPr>
        <p:txBody>
          <a:bodyPr anchor="b">
            <a:normAutofit/>
          </a:bodyPr>
          <a:lstStyle/>
          <a:p>
            <a:pPr algn="ctr"/>
            <a:r>
              <a:rPr lang="en-US" sz="3200" dirty="0">
                <a:solidFill>
                  <a:schemeClr val="tx1">
                    <a:lumMod val="65000"/>
                    <a:lumOff val="35000"/>
                  </a:schemeClr>
                </a:solidFill>
                <a:latin typeface="Bahnschrift" panose="020B0502040204020203" pitchFamily="34" charset="0"/>
              </a:rPr>
              <a:t>Struggles with Initial Questions</a:t>
            </a:r>
          </a:p>
        </p:txBody>
      </p:sp>
      <p:sp>
        <p:nvSpPr>
          <p:cNvPr id="3" name="Content Placeholder 2">
            <a:extLst>
              <a:ext uri="{FF2B5EF4-FFF2-40B4-BE49-F238E27FC236}">
                <a16:creationId xmlns:a16="http://schemas.microsoft.com/office/drawing/2014/main" id="{5C34FE4D-0A83-6F67-3C70-AB3EF40CB6D5}"/>
              </a:ext>
            </a:extLst>
          </p:cNvPr>
          <p:cNvSpPr>
            <a:spLocks noGrp="1"/>
          </p:cNvSpPr>
          <p:nvPr>
            <p:ph idx="1"/>
          </p:nvPr>
        </p:nvSpPr>
        <p:spPr>
          <a:xfrm>
            <a:off x="1335799" y="2563907"/>
            <a:ext cx="5461225" cy="2976191"/>
          </a:xfrm>
        </p:spPr>
        <p:txBody>
          <a:bodyPr anchor="t">
            <a:normAutofit/>
          </a:bodyPr>
          <a:lstStyle/>
          <a:p>
            <a:r>
              <a:rPr lang="en-US" sz="2000">
                <a:solidFill>
                  <a:schemeClr val="tx1">
                    <a:lumMod val="65000"/>
                    <a:lumOff val="35000"/>
                  </a:schemeClr>
                </a:solidFill>
                <a:latin typeface="Bahnschrift" panose="020B0502040204020203" pitchFamily="34" charset="0"/>
              </a:rPr>
              <a:t>Performance prediction in Formula 1 is uniquely complex due to the interaction of car specifications, strategy, environmental variables, and dynamic, race-day uncertainties (van Kesteren &amp; Bergkamp, 2023)</a:t>
            </a:r>
          </a:p>
          <a:p>
            <a:r>
              <a:rPr lang="en-US" sz="2000">
                <a:solidFill>
                  <a:schemeClr val="tx1">
                    <a:lumMod val="65000"/>
                    <a:lumOff val="35000"/>
                  </a:schemeClr>
                </a:solidFill>
                <a:latin typeface="Bahnschrift" panose="020B0502040204020203" pitchFamily="34" charset="0"/>
              </a:rPr>
              <a:t>Advanced predictive modeling relies on deep telemetry, aerodynamic simulation, or proprietary team datasets</a:t>
            </a:r>
          </a:p>
          <a:p>
            <a:pPr marL="0" indent="0">
              <a:buNone/>
            </a:pPr>
            <a:endParaRPr lang="en-US" sz="2000">
              <a:solidFill>
                <a:schemeClr val="tx1">
                  <a:lumMod val="65000"/>
                  <a:lumOff val="35000"/>
                </a:schemeClr>
              </a:solidFill>
              <a:latin typeface="Bahnschrift" panose="020B0502040204020203" pitchFamily="34" charset="0"/>
            </a:endParaRPr>
          </a:p>
        </p:txBody>
      </p:sp>
      <p:pic>
        <p:nvPicPr>
          <p:cNvPr id="2050" name="Picture 2" descr="Hannah Schmitz supremacy #formula1 #f1memes #qatargp #motorsport #racing  #maxverstappen #landonorris #oscarpiastri">
            <a:extLst>
              <a:ext uri="{FF2B5EF4-FFF2-40B4-BE49-F238E27FC236}">
                <a16:creationId xmlns:a16="http://schemas.microsoft.com/office/drawing/2014/main" id="{367A6C70-51AC-58B7-94F9-165BB77B1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180" r="2" b="2"/>
          <a:stretch>
            <a:fillRect/>
          </a:stretch>
        </p:blipFill>
        <p:spPr bwMode="auto">
          <a:xfrm>
            <a:off x="8779933" y="685798"/>
            <a:ext cx="2726267" cy="24214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errari stuff hahahaha : r/formuladank">
            <a:extLst>
              <a:ext uri="{FF2B5EF4-FFF2-40B4-BE49-F238E27FC236}">
                <a16:creationId xmlns:a16="http://schemas.microsoft.com/office/drawing/2014/main" id="{9204F861-5C89-37CB-2ED7-07B992F35F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4" r="-2" b="-2"/>
          <a:stretch>
            <a:fillRect/>
          </a:stretch>
        </p:blipFill>
        <p:spPr bwMode="auto">
          <a:xfrm>
            <a:off x="8779933" y="3263351"/>
            <a:ext cx="2726267" cy="3248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037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McLaren's 8 greatest moments in Formula 1 | GRR">
            <a:extLst>
              <a:ext uri="{FF2B5EF4-FFF2-40B4-BE49-F238E27FC236}">
                <a16:creationId xmlns:a16="http://schemas.microsoft.com/office/drawing/2014/main" id="{12B0ADA4-56A1-2043-62B2-81A1F604B3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6" r="17822"/>
          <a:stretch>
            <a:fillRect/>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E1CAE72-0192-FDBF-6318-15C1BDA7028F}"/>
              </a:ext>
            </a:extLst>
          </p:cNvPr>
          <p:cNvSpPr>
            <a:spLocks noGrp="1"/>
          </p:cNvSpPr>
          <p:nvPr>
            <p:ph type="title"/>
          </p:nvPr>
        </p:nvSpPr>
        <p:spPr>
          <a:xfrm>
            <a:off x="7531610" y="365125"/>
            <a:ext cx="3822189" cy="1899912"/>
          </a:xfrm>
        </p:spPr>
        <p:txBody>
          <a:bodyPr>
            <a:normAutofit/>
          </a:bodyPr>
          <a:lstStyle/>
          <a:p>
            <a:r>
              <a:rPr lang="en-US" sz="4000" dirty="0">
                <a:latin typeface="Bahnschrift" panose="020B0502040204020203" pitchFamily="34" charset="0"/>
              </a:rPr>
              <a:t>Updated Research Questions </a:t>
            </a:r>
          </a:p>
        </p:txBody>
      </p:sp>
      <p:sp>
        <p:nvSpPr>
          <p:cNvPr id="3" name="Content Placeholder 2">
            <a:extLst>
              <a:ext uri="{FF2B5EF4-FFF2-40B4-BE49-F238E27FC236}">
                <a16:creationId xmlns:a16="http://schemas.microsoft.com/office/drawing/2014/main" id="{42D5681E-8E68-0AB8-D9F2-8A0376AE0F9B}"/>
              </a:ext>
            </a:extLst>
          </p:cNvPr>
          <p:cNvSpPr>
            <a:spLocks noGrp="1"/>
          </p:cNvSpPr>
          <p:nvPr>
            <p:ph idx="1"/>
          </p:nvPr>
        </p:nvSpPr>
        <p:spPr>
          <a:xfrm>
            <a:off x="6849750" y="2434200"/>
            <a:ext cx="5522446" cy="3988501"/>
          </a:xfrm>
        </p:spPr>
        <p:txBody>
          <a:bodyPr>
            <a:normAutofit fontScale="92500" lnSpcReduction="10000"/>
          </a:bodyPr>
          <a:lstStyle/>
          <a:p>
            <a:pPr fontAlgn="base"/>
            <a:r>
              <a:rPr lang="en-US" i="1" dirty="0">
                <a:latin typeface="Bahnschrift" panose="020B0502040204020203" pitchFamily="34" charset="0"/>
              </a:rPr>
              <a:t>Can grand prix circuits be classified by properties such as overtaking rate, pit stop duration, tire degradation, or layout complexity?</a:t>
            </a:r>
          </a:p>
          <a:p>
            <a:pPr lvl="1" fontAlgn="base"/>
            <a:r>
              <a:rPr lang="en-US" sz="2800" i="1" dirty="0">
                <a:latin typeface="Bahnschrift" panose="020B0502040204020203" pitchFamily="34" charset="0"/>
              </a:rPr>
              <a:t>Which drivers consistently perform above expectation relative to circuit characteristics—i.e., which drivers demonstrate “anomalous,” exceptional performance?</a:t>
            </a:r>
            <a:endParaRPr lang="en-US" sz="2800" dirty="0">
              <a:latin typeface="Bahnschrift" panose="020B0502040204020203" pitchFamily="34" charset="0"/>
            </a:endParaRPr>
          </a:p>
        </p:txBody>
      </p:sp>
    </p:spTree>
    <p:extLst>
      <p:ext uri="{BB962C8B-B14F-4D97-AF65-F5344CB8AC3E}">
        <p14:creationId xmlns:p14="http://schemas.microsoft.com/office/powerpoint/2010/main" val="2747139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8C0110-BFB7-C414-FCC7-A227110EE3CA}"/>
              </a:ext>
            </a:extLst>
          </p:cNvPr>
          <p:cNvSpPr>
            <a:spLocks noGrp="1"/>
          </p:cNvSpPr>
          <p:nvPr>
            <p:ph type="title"/>
          </p:nvPr>
        </p:nvSpPr>
        <p:spPr>
          <a:xfrm>
            <a:off x="640080" y="325369"/>
            <a:ext cx="4368602" cy="1956841"/>
          </a:xfrm>
        </p:spPr>
        <p:txBody>
          <a:bodyPr anchor="b">
            <a:normAutofit/>
          </a:bodyPr>
          <a:lstStyle/>
          <a:p>
            <a:r>
              <a:rPr lang="en-US" sz="5400" dirty="0">
                <a:latin typeface="Bahnschrift" panose="020B0502040204020203" pitchFamily="34" charset="0"/>
              </a:rPr>
              <a:t>Models </a:t>
            </a:r>
          </a:p>
        </p:txBody>
      </p:sp>
      <p:sp>
        <p:nvSpPr>
          <p:cNvPr id="820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9F3FC13-EBDF-7A5D-0820-9232E1C02C57}"/>
              </a:ext>
            </a:extLst>
          </p:cNvPr>
          <p:cNvSpPr>
            <a:spLocks noGrp="1"/>
          </p:cNvSpPr>
          <p:nvPr>
            <p:ph idx="1"/>
          </p:nvPr>
        </p:nvSpPr>
        <p:spPr>
          <a:xfrm>
            <a:off x="640080" y="2872899"/>
            <a:ext cx="4243589" cy="3320668"/>
          </a:xfrm>
        </p:spPr>
        <p:txBody>
          <a:bodyPr>
            <a:normAutofit/>
          </a:bodyPr>
          <a:lstStyle/>
          <a:p>
            <a:r>
              <a:rPr lang="en-US" sz="2000" b="1" dirty="0">
                <a:latin typeface="Bahnschrift" panose="020B0502040204020203" pitchFamily="34" charset="0"/>
              </a:rPr>
              <a:t>Linear regression and least squares models</a:t>
            </a:r>
          </a:p>
          <a:p>
            <a:pPr lvl="1"/>
            <a:r>
              <a:rPr lang="en-US" sz="2000" dirty="0">
                <a:latin typeface="Bahnschrift" panose="020B0502040204020203" pitchFamily="34" charset="0"/>
              </a:rPr>
              <a:t>Interpretability and ability to quantify effect of individual features (Oliveira‑Silvino et al., 2024). </a:t>
            </a:r>
          </a:p>
          <a:p>
            <a:pPr lvl="1"/>
            <a:r>
              <a:rPr lang="en-US" sz="2000" dirty="0">
                <a:latin typeface="Bahnschrift" panose="020B0502040204020203" pitchFamily="34" charset="0"/>
              </a:rPr>
              <a:t>Limited when relationships are nonlinear</a:t>
            </a:r>
          </a:p>
        </p:txBody>
      </p:sp>
      <p:pic>
        <p:nvPicPr>
          <p:cNvPr id="8194" name="Picture 2" descr="F1 2024 season in pictures: Best moments from Verstappen's early dominance  to McLaren's constructors win">
            <a:extLst>
              <a:ext uri="{FF2B5EF4-FFF2-40B4-BE49-F238E27FC236}">
                <a16:creationId xmlns:a16="http://schemas.microsoft.com/office/drawing/2014/main" id="{574A161D-E333-628D-4D98-5E37F744C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968" r="15079"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355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Ferrari's Charles Leclerc wins hometown Monaco GP for first time - CGTN">
            <a:extLst>
              <a:ext uri="{FF2B5EF4-FFF2-40B4-BE49-F238E27FC236}">
                <a16:creationId xmlns:a16="http://schemas.microsoft.com/office/drawing/2014/main" id="{FE7E9EE0-58C9-3D5E-7124-6E38BDD00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237"/>
          <a:stretch>
            <a:fillRect/>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9225" name="Rectangle 922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18C048-28EC-4DCE-2D27-B9A603813D05}"/>
              </a:ext>
            </a:extLst>
          </p:cNvPr>
          <p:cNvSpPr>
            <a:spLocks noGrp="1"/>
          </p:cNvSpPr>
          <p:nvPr>
            <p:ph type="title"/>
          </p:nvPr>
        </p:nvSpPr>
        <p:spPr>
          <a:xfrm>
            <a:off x="7531610" y="365125"/>
            <a:ext cx="3822189" cy="1899912"/>
          </a:xfrm>
        </p:spPr>
        <p:txBody>
          <a:bodyPr>
            <a:normAutofit/>
          </a:bodyPr>
          <a:lstStyle/>
          <a:p>
            <a:r>
              <a:rPr lang="en-US" sz="4000">
                <a:latin typeface="Bahnschrift" panose="020B0502040204020203" pitchFamily="34" charset="0"/>
              </a:rPr>
              <a:t>Models </a:t>
            </a:r>
          </a:p>
        </p:txBody>
      </p:sp>
      <p:sp>
        <p:nvSpPr>
          <p:cNvPr id="3" name="Content Placeholder 2">
            <a:extLst>
              <a:ext uri="{FF2B5EF4-FFF2-40B4-BE49-F238E27FC236}">
                <a16:creationId xmlns:a16="http://schemas.microsoft.com/office/drawing/2014/main" id="{8088B3DC-EBCD-405D-E713-051AE8711707}"/>
              </a:ext>
            </a:extLst>
          </p:cNvPr>
          <p:cNvSpPr>
            <a:spLocks noGrp="1"/>
          </p:cNvSpPr>
          <p:nvPr>
            <p:ph idx="1"/>
          </p:nvPr>
        </p:nvSpPr>
        <p:spPr>
          <a:xfrm>
            <a:off x="7531610" y="2434201"/>
            <a:ext cx="3822189" cy="3742762"/>
          </a:xfrm>
        </p:spPr>
        <p:txBody>
          <a:bodyPr>
            <a:normAutofit/>
          </a:bodyPr>
          <a:lstStyle/>
          <a:p>
            <a:r>
              <a:rPr lang="en-US" sz="2000" b="1">
                <a:latin typeface="Bahnschrift" panose="020B0502040204020203" pitchFamily="34" charset="0"/>
              </a:rPr>
              <a:t>Ensemble methods (random forest, gradient boosting) </a:t>
            </a:r>
          </a:p>
          <a:p>
            <a:pPr lvl="1"/>
            <a:r>
              <a:rPr lang="en-US" sz="2000">
                <a:latin typeface="Bahnschrift" panose="020B0502040204020203" pitchFamily="34" charset="0"/>
              </a:rPr>
              <a:t>Applied in diverse sports analytics to visualize nonlinear relationships (Bansal et al., 2025)</a:t>
            </a:r>
          </a:p>
          <a:p>
            <a:pPr lvl="1"/>
            <a:r>
              <a:rPr lang="en-US" sz="2000">
                <a:latin typeface="Bahnschrift" panose="020B0502040204020203" pitchFamily="34" charset="0"/>
              </a:rPr>
              <a:t>Strong candidates for exploratory and predictive work</a:t>
            </a:r>
          </a:p>
        </p:txBody>
      </p:sp>
    </p:spTree>
    <p:extLst>
      <p:ext uri="{BB962C8B-B14F-4D97-AF65-F5344CB8AC3E}">
        <p14:creationId xmlns:p14="http://schemas.microsoft.com/office/powerpoint/2010/main" val="3973964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10242" name="Picture 2" descr="Lando Norris claims first win of F1 career, storming to victory at Miami  Grand Prix in front of star-studded crowd | CNN">
            <a:extLst>
              <a:ext uri="{FF2B5EF4-FFF2-40B4-BE49-F238E27FC236}">
                <a16:creationId xmlns:a16="http://schemas.microsoft.com/office/drawing/2014/main" id="{DFB1FA69-5369-D8CE-6027-50922C4539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182" b="-1"/>
          <a:stretch>
            <a:fillRect/>
          </a:stretch>
        </p:blipFill>
        <p:spPr bwMode="auto">
          <a:xfrm>
            <a:off x="20" y="10"/>
            <a:ext cx="994706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249" name="Freeform: Shape 10248">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10251" name="Freeform: Shape 10250">
            <a:extLst>
              <a:ext uri="{FF2B5EF4-FFF2-40B4-BE49-F238E27FC236}">
                <a16:creationId xmlns:a16="http://schemas.microsoft.com/office/drawing/2014/main" id="{F9EC3F91-A75C-4F74-867E-E4C28C135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226" y="0"/>
            <a:ext cx="5043774" cy="6858000"/>
          </a:xfrm>
          <a:custGeom>
            <a:avLst/>
            <a:gdLst>
              <a:gd name="connsiteX0" fmla="*/ 1648981 w 5043774"/>
              <a:gd name="connsiteY0" fmla="*/ 0 h 6858000"/>
              <a:gd name="connsiteX1" fmla="*/ 2759699 w 5043774"/>
              <a:gd name="connsiteY1" fmla="*/ 0 h 6858000"/>
              <a:gd name="connsiteX2" fmla="*/ 3379301 w 5043774"/>
              <a:gd name="connsiteY2" fmla="*/ 0 h 6858000"/>
              <a:gd name="connsiteX3" fmla="*/ 3552342 w 5043774"/>
              <a:gd name="connsiteY3" fmla="*/ 0 h 6858000"/>
              <a:gd name="connsiteX4" fmla="*/ 4617166 w 5043774"/>
              <a:gd name="connsiteY4" fmla="*/ 0 h 6858000"/>
              <a:gd name="connsiteX5" fmla="*/ 4786130 w 5043774"/>
              <a:gd name="connsiteY5" fmla="*/ 0 h 6858000"/>
              <a:gd name="connsiteX6" fmla="*/ 4980168 w 5043774"/>
              <a:gd name="connsiteY6" fmla="*/ 0 h 6858000"/>
              <a:gd name="connsiteX7" fmla="*/ 5043774 w 5043774"/>
              <a:gd name="connsiteY7" fmla="*/ 0 h 6858000"/>
              <a:gd name="connsiteX8" fmla="*/ 5043774 w 5043774"/>
              <a:gd name="connsiteY8" fmla="*/ 6858000 h 6858000"/>
              <a:gd name="connsiteX9" fmla="*/ 4980168 w 5043774"/>
              <a:gd name="connsiteY9" fmla="*/ 6858000 h 6858000"/>
              <a:gd name="connsiteX10" fmla="*/ 4786130 w 5043774"/>
              <a:gd name="connsiteY10" fmla="*/ 6858000 h 6858000"/>
              <a:gd name="connsiteX11" fmla="*/ 4617166 w 5043774"/>
              <a:gd name="connsiteY11" fmla="*/ 6858000 h 6858000"/>
              <a:gd name="connsiteX12" fmla="*/ 3552342 w 5043774"/>
              <a:gd name="connsiteY12" fmla="*/ 6858000 h 6858000"/>
              <a:gd name="connsiteX13" fmla="*/ 3379301 w 5043774"/>
              <a:gd name="connsiteY13" fmla="*/ 6858000 h 6858000"/>
              <a:gd name="connsiteX14" fmla="*/ 2759699 w 5043774"/>
              <a:gd name="connsiteY14" fmla="*/ 6858000 h 6858000"/>
              <a:gd name="connsiteX15" fmla="*/ 2542782 w 5043774"/>
              <a:gd name="connsiteY15" fmla="*/ 6858000 h 6858000"/>
              <a:gd name="connsiteX16" fmla="*/ 2429239 w 5043774"/>
              <a:gd name="connsiteY16" fmla="*/ 6780599 h 6858000"/>
              <a:gd name="connsiteX17" fmla="*/ 1904328 w 5043774"/>
              <a:gd name="connsiteY17" fmla="*/ 6374814 h 6858000"/>
              <a:gd name="connsiteX18" fmla="*/ 0 w 5043774"/>
              <a:gd name="connsiteY18" fmla="*/ 3621656 h 6858000"/>
              <a:gd name="connsiteX19" fmla="*/ 1626503 w 5043774"/>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43774" h="6858000">
                <a:moveTo>
                  <a:pt x="1648981" y="0"/>
                </a:moveTo>
                <a:lnTo>
                  <a:pt x="2759699" y="0"/>
                </a:lnTo>
                <a:lnTo>
                  <a:pt x="3379301" y="0"/>
                </a:lnTo>
                <a:lnTo>
                  <a:pt x="3552342" y="0"/>
                </a:lnTo>
                <a:lnTo>
                  <a:pt x="4617166" y="0"/>
                </a:lnTo>
                <a:lnTo>
                  <a:pt x="4786130" y="0"/>
                </a:lnTo>
                <a:lnTo>
                  <a:pt x="4980168" y="0"/>
                </a:lnTo>
                <a:lnTo>
                  <a:pt x="5043774" y="0"/>
                </a:lnTo>
                <a:lnTo>
                  <a:pt x="5043774" y="6858000"/>
                </a:lnTo>
                <a:lnTo>
                  <a:pt x="4980168" y="6858000"/>
                </a:lnTo>
                <a:lnTo>
                  <a:pt x="4786130" y="6858000"/>
                </a:lnTo>
                <a:lnTo>
                  <a:pt x="4617166" y="6858000"/>
                </a:lnTo>
                <a:lnTo>
                  <a:pt x="3552342" y="6858000"/>
                </a:lnTo>
                <a:lnTo>
                  <a:pt x="3379301" y="6858000"/>
                </a:lnTo>
                <a:lnTo>
                  <a:pt x="2759699" y="6858000"/>
                </a:lnTo>
                <a:lnTo>
                  <a:pt x="2542782" y="6858000"/>
                </a:lnTo>
                <a:lnTo>
                  <a:pt x="2429239" y="6780599"/>
                </a:lnTo>
                <a:cubicBezTo>
                  <a:pt x="2252641" y="6653108"/>
                  <a:pt x="2079285" y="6515397"/>
                  <a:pt x="1904328" y="6374814"/>
                </a:cubicBezTo>
                <a:cubicBezTo>
                  <a:pt x="943579" y="5602839"/>
                  <a:pt x="0" y="4969131"/>
                  <a:pt x="0" y="3621656"/>
                </a:cubicBezTo>
                <a:cubicBezTo>
                  <a:pt x="0" y="2093192"/>
                  <a:pt x="582912" y="754641"/>
                  <a:pt x="1626503" y="14997"/>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Meiryo"/>
            </a:endParaRPr>
          </a:p>
        </p:txBody>
      </p:sp>
      <p:sp>
        <p:nvSpPr>
          <p:cNvPr id="10253" name="Freeform: Shape 1025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9701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249BD480-9D0A-0B17-FD39-B941BEE7C743}"/>
              </a:ext>
            </a:extLst>
          </p:cNvPr>
          <p:cNvSpPr>
            <a:spLocks noGrp="1"/>
          </p:cNvSpPr>
          <p:nvPr>
            <p:ph type="title"/>
          </p:nvPr>
        </p:nvSpPr>
        <p:spPr>
          <a:xfrm>
            <a:off x="8046720" y="1045597"/>
            <a:ext cx="3633746" cy="1588422"/>
          </a:xfrm>
        </p:spPr>
        <p:txBody>
          <a:bodyPr anchor="b">
            <a:normAutofit/>
          </a:bodyPr>
          <a:lstStyle/>
          <a:p>
            <a:r>
              <a:rPr lang="en-US" sz="3600">
                <a:latin typeface="Bahnschrift" panose="020B0502040204020203" pitchFamily="34" charset="0"/>
              </a:rPr>
              <a:t>Models</a:t>
            </a:r>
          </a:p>
        </p:txBody>
      </p:sp>
      <p:sp>
        <p:nvSpPr>
          <p:cNvPr id="3" name="Content Placeholder 2">
            <a:extLst>
              <a:ext uri="{FF2B5EF4-FFF2-40B4-BE49-F238E27FC236}">
                <a16:creationId xmlns:a16="http://schemas.microsoft.com/office/drawing/2014/main" id="{4386B896-58EC-15F3-29E0-881CC324829D}"/>
              </a:ext>
            </a:extLst>
          </p:cNvPr>
          <p:cNvSpPr>
            <a:spLocks noGrp="1"/>
          </p:cNvSpPr>
          <p:nvPr>
            <p:ph idx="1"/>
          </p:nvPr>
        </p:nvSpPr>
        <p:spPr>
          <a:xfrm>
            <a:off x="8046719" y="2722729"/>
            <a:ext cx="3633747" cy="2700062"/>
          </a:xfrm>
        </p:spPr>
        <p:txBody>
          <a:bodyPr>
            <a:normAutofit/>
          </a:bodyPr>
          <a:lstStyle/>
          <a:p>
            <a:r>
              <a:rPr lang="en-US" sz="2000" b="1">
                <a:latin typeface="Bahnschrift" panose="020B0502040204020203" pitchFamily="34" charset="0"/>
              </a:rPr>
              <a:t>Advanced models (neural networks or deep learning architectures)</a:t>
            </a:r>
            <a:r>
              <a:rPr lang="en-US" sz="2000">
                <a:latin typeface="Bahnschrift" panose="020B0502040204020203" pitchFamily="34" charset="0"/>
              </a:rPr>
              <a:t> </a:t>
            </a:r>
          </a:p>
          <a:p>
            <a:pPr lvl="1"/>
            <a:r>
              <a:rPr lang="en-US" sz="2000">
                <a:latin typeface="Bahnschrift" panose="020B0502040204020203" pitchFamily="34" charset="0"/>
              </a:rPr>
              <a:t>Sequential and time-series information from lap-by-lap data (Jia et al., 2025)</a:t>
            </a:r>
          </a:p>
          <a:p>
            <a:pPr lvl="1"/>
            <a:r>
              <a:rPr lang="en-US" sz="2000">
                <a:latin typeface="Bahnschrift" panose="020B0502040204020203" pitchFamily="34" charset="0"/>
              </a:rPr>
              <a:t>Difficult to interpret and require preprocessing</a:t>
            </a:r>
          </a:p>
          <a:p>
            <a:endParaRPr lang="en-US" sz="2000">
              <a:latin typeface="Bahnschrift" panose="020B0502040204020203" pitchFamily="34" charset="0"/>
            </a:endParaRPr>
          </a:p>
        </p:txBody>
      </p:sp>
    </p:spTree>
    <p:extLst>
      <p:ext uri="{BB962C8B-B14F-4D97-AF65-F5344CB8AC3E}">
        <p14:creationId xmlns:p14="http://schemas.microsoft.com/office/powerpoint/2010/main" val="1681524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race car driver on a track&#10;&#10;AI-generated content may be incorrect.">
            <a:extLst>
              <a:ext uri="{FF2B5EF4-FFF2-40B4-BE49-F238E27FC236}">
                <a16:creationId xmlns:a16="http://schemas.microsoft.com/office/drawing/2014/main" id="{965A6236-0096-D58D-1434-66A6F9CB61BE}"/>
              </a:ext>
            </a:extLst>
          </p:cNvPr>
          <p:cNvPicPr>
            <a:picLocks noChangeAspect="1"/>
          </p:cNvPicPr>
          <p:nvPr/>
        </p:nvPicPr>
        <p:blipFill>
          <a:blip r:embed="rId3">
            <a:extLst>
              <a:ext uri="{28A0092B-C50C-407E-A947-70E740481C1C}">
                <a14:useLocalDpi xmlns:a14="http://schemas.microsoft.com/office/drawing/2010/main" val="0"/>
              </a:ext>
            </a:extLst>
          </a:blip>
          <a:srcRect l="6635" r="14054"/>
          <a:stretch>
            <a:fillRect/>
          </a:stretch>
        </p:blipFill>
        <p:spPr>
          <a:xfrm>
            <a:off x="2522356" y="10"/>
            <a:ext cx="9669642" cy="6857990"/>
          </a:xfrm>
          <a:prstGeom prst="rect">
            <a:avLst/>
          </a:prstGeom>
        </p:spPr>
      </p:pic>
      <p:sp>
        <p:nvSpPr>
          <p:cNvPr id="24" name="Rectangle 2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704F52-207D-1A8F-0D94-E4EFC24F4D2E}"/>
              </a:ext>
            </a:extLst>
          </p:cNvPr>
          <p:cNvSpPr>
            <a:spLocks noGrp="1"/>
          </p:cNvSpPr>
          <p:nvPr>
            <p:ph type="title"/>
          </p:nvPr>
        </p:nvSpPr>
        <p:spPr>
          <a:xfrm>
            <a:off x="838200" y="365125"/>
            <a:ext cx="3822189" cy="1456531"/>
          </a:xfrm>
        </p:spPr>
        <p:txBody>
          <a:bodyPr>
            <a:normAutofit/>
          </a:bodyPr>
          <a:lstStyle/>
          <a:p>
            <a:r>
              <a:rPr lang="en-US" sz="4000" dirty="0">
                <a:latin typeface="Bahnschrift" panose="020B0502040204020203" pitchFamily="34" charset="0"/>
              </a:rPr>
              <a:t>Models</a:t>
            </a:r>
          </a:p>
        </p:txBody>
      </p:sp>
      <p:sp>
        <p:nvSpPr>
          <p:cNvPr id="3" name="Content Placeholder 2">
            <a:extLst>
              <a:ext uri="{FF2B5EF4-FFF2-40B4-BE49-F238E27FC236}">
                <a16:creationId xmlns:a16="http://schemas.microsoft.com/office/drawing/2014/main" id="{83882640-3E88-5456-A42A-42429C205932}"/>
              </a:ext>
            </a:extLst>
          </p:cNvPr>
          <p:cNvSpPr>
            <a:spLocks noGrp="1"/>
          </p:cNvSpPr>
          <p:nvPr>
            <p:ph idx="1"/>
          </p:nvPr>
        </p:nvSpPr>
        <p:spPr>
          <a:xfrm>
            <a:off x="838200" y="1591234"/>
            <a:ext cx="3822189" cy="4652403"/>
          </a:xfrm>
        </p:spPr>
        <p:txBody>
          <a:bodyPr>
            <a:normAutofit fontScale="92500" lnSpcReduction="10000"/>
          </a:bodyPr>
          <a:lstStyle/>
          <a:p>
            <a:r>
              <a:rPr lang="en-US" sz="2400" b="1" dirty="0">
                <a:latin typeface="Bahnschrift" panose="020B0502040204020203" pitchFamily="34" charset="0"/>
              </a:rPr>
              <a:t>Hierarchical and k-Means clustering </a:t>
            </a:r>
          </a:p>
          <a:p>
            <a:pPr lvl="1"/>
            <a:r>
              <a:rPr lang="en-US" dirty="0">
                <a:latin typeface="Bahnschrift" panose="020B0502040204020203" pitchFamily="34" charset="0"/>
              </a:rPr>
              <a:t>Suited for exploring driver performance and circuit characteristics </a:t>
            </a:r>
          </a:p>
          <a:p>
            <a:r>
              <a:rPr lang="en-US" sz="2400" dirty="0">
                <a:latin typeface="Bahnschrift" panose="020B0502040204020203" pitchFamily="34" charset="0"/>
              </a:rPr>
              <a:t>Hierarchical clustering is useful for visualizing nested relationships between drivers or circuits</a:t>
            </a:r>
          </a:p>
          <a:p>
            <a:r>
              <a:rPr lang="en-US" sz="2400" dirty="0">
                <a:latin typeface="Bahnschrift" panose="020B0502040204020203" pitchFamily="34" charset="0"/>
              </a:rPr>
              <a:t>k-Means provides a straightforward approach to partitioning data into distinct clusters of similar traits</a:t>
            </a:r>
          </a:p>
        </p:txBody>
      </p:sp>
    </p:spTree>
    <p:extLst>
      <p:ext uri="{BB962C8B-B14F-4D97-AF65-F5344CB8AC3E}">
        <p14:creationId xmlns:p14="http://schemas.microsoft.com/office/powerpoint/2010/main" val="2588158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7C2E74-DF7C-7B16-A806-47DEDF99EB4F}"/>
              </a:ext>
            </a:extLst>
          </p:cNvPr>
          <p:cNvSpPr>
            <a:spLocks noGrp="1"/>
          </p:cNvSpPr>
          <p:nvPr>
            <p:ph type="title"/>
          </p:nvPr>
        </p:nvSpPr>
        <p:spPr>
          <a:xfrm>
            <a:off x="640080" y="325369"/>
            <a:ext cx="4368602" cy="1956841"/>
          </a:xfrm>
        </p:spPr>
        <p:txBody>
          <a:bodyPr anchor="b">
            <a:normAutofit/>
          </a:bodyPr>
          <a:lstStyle/>
          <a:p>
            <a:r>
              <a:rPr lang="en-US" sz="5400" dirty="0">
                <a:latin typeface="Bahnschrift" panose="020B0502040204020203" pitchFamily="34" charset="0"/>
              </a:rPr>
              <a:t>Best Model </a:t>
            </a:r>
          </a:p>
        </p:txBody>
      </p:sp>
      <p:sp>
        <p:nvSpPr>
          <p:cNvPr id="1229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54A595-08BC-0697-522A-C3CAD7670CB9}"/>
              </a:ext>
            </a:extLst>
          </p:cNvPr>
          <p:cNvSpPr>
            <a:spLocks noGrp="1"/>
          </p:cNvSpPr>
          <p:nvPr>
            <p:ph idx="1"/>
          </p:nvPr>
        </p:nvSpPr>
        <p:spPr>
          <a:xfrm>
            <a:off x="640080" y="2872899"/>
            <a:ext cx="4243589" cy="3320668"/>
          </a:xfrm>
        </p:spPr>
        <p:txBody>
          <a:bodyPr>
            <a:normAutofit/>
          </a:bodyPr>
          <a:lstStyle/>
          <a:p>
            <a:r>
              <a:rPr lang="en-US" sz="1900">
                <a:latin typeface="Bahnschrift" panose="020B0502040204020203" pitchFamily="34" charset="0"/>
              </a:rPr>
              <a:t>Given complexity of predicting F1 race outcomes and limitations of available data, </a:t>
            </a:r>
            <a:r>
              <a:rPr lang="en-US" sz="1900" b="1">
                <a:latin typeface="Bahnschrift" panose="020B0502040204020203" pitchFamily="34" charset="0"/>
              </a:rPr>
              <a:t>hierarchical and k-Means clustering were selected as the primary analytical methods </a:t>
            </a:r>
            <a:r>
              <a:rPr lang="en-US" sz="1900">
                <a:latin typeface="Bahnschrift" panose="020B0502040204020203" pitchFamily="34" charset="0"/>
              </a:rPr>
              <a:t>for this project </a:t>
            </a:r>
          </a:p>
          <a:p>
            <a:r>
              <a:rPr lang="en-US" sz="1900">
                <a:latin typeface="Bahnschrift" panose="020B0502040204020203" pitchFamily="34" charset="0"/>
              </a:rPr>
              <a:t>Enables classification of drivers and circuits, and identification of drivers who perform consistently well under different track conditions</a:t>
            </a:r>
          </a:p>
        </p:txBody>
      </p:sp>
      <p:pic>
        <p:nvPicPr>
          <p:cNvPr id="12290" name="Picture 2" descr="Formula One: Lewis Hamilton beats Max Verstappen to win British Grand Prix  | Motorsports News | Al Jazeera">
            <a:extLst>
              <a:ext uri="{FF2B5EF4-FFF2-40B4-BE49-F238E27FC236}">
                <a16:creationId xmlns:a16="http://schemas.microsoft.com/office/drawing/2014/main" id="{68889A27-4B83-9C84-1B2C-1FA21EB4C7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03"/>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254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D0F673-F7B8-F25A-3484-5D9B2B5368CD}"/>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dirty="0">
                <a:solidFill>
                  <a:schemeClr val="tx1">
                    <a:lumMod val="85000"/>
                    <a:lumOff val="15000"/>
                  </a:schemeClr>
                </a:solidFill>
                <a:latin typeface="Bahnschrift" panose="020B0502040204020203" pitchFamily="34" charset="0"/>
              </a:rPr>
              <a:t>Final Product</a:t>
            </a:r>
          </a:p>
        </p:txBody>
      </p:sp>
      <p:sp>
        <p:nvSpPr>
          <p:cNvPr id="3" name="Content Placeholder 2">
            <a:extLst>
              <a:ext uri="{FF2B5EF4-FFF2-40B4-BE49-F238E27FC236}">
                <a16:creationId xmlns:a16="http://schemas.microsoft.com/office/drawing/2014/main" id="{4A4EC5AF-6E18-F604-846D-732A9AA8F495}"/>
              </a:ext>
            </a:extLst>
          </p:cNvPr>
          <p:cNvSpPr>
            <a:spLocks noGrp="1"/>
          </p:cNvSpPr>
          <p:nvPr>
            <p:ph idx="1"/>
          </p:nvPr>
        </p:nvSpPr>
        <p:spPr>
          <a:xfrm>
            <a:off x="2426447" y="6019391"/>
            <a:ext cx="7315199" cy="365125"/>
          </a:xfrm>
        </p:spPr>
        <p:txBody>
          <a:bodyPr vert="horz" lIns="91440" tIns="45720" rIns="91440" bIns="45720" rtlCol="0" anchor="t">
            <a:normAutofit/>
          </a:bodyPr>
          <a:lstStyle/>
          <a:p>
            <a:pPr marL="0" indent="0" algn="ctr">
              <a:buNone/>
            </a:pPr>
            <a:r>
              <a:rPr lang="en-US" sz="1600" b="1" dirty="0">
                <a:solidFill>
                  <a:schemeClr val="tx1">
                    <a:lumMod val="85000"/>
                    <a:lumOff val="15000"/>
                  </a:schemeClr>
                </a:solidFill>
                <a:latin typeface="Bahnschrift" panose="020B0502040204020203" pitchFamily="34" charset="0"/>
              </a:rPr>
              <a:t>Who really is the “goat” of Formula 1?</a:t>
            </a:r>
          </a:p>
        </p:txBody>
      </p:sp>
      <p:pic>
        <p:nvPicPr>
          <p:cNvPr id="6" name="Picture 5" descr="A person in a red suit on a race car with a crowd of people around him&#10;&#10;AI-generated content may be incorrect.">
            <a:extLst>
              <a:ext uri="{FF2B5EF4-FFF2-40B4-BE49-F238E27FC236}">
                <a16:creationId xmlns:a16="http://schemas.microsoft.com/office/drawing/2014/main" id="{25242C7F-ABDB-8AE2-F5BB-A187F4BD4C71}"/>
              </a:ext>
            </a:extLst>
          </p:cNvPr>
          <p:cNvPicPr>
            <a:picLocks noChangeAspect="1"/>
          </p:cNvPicPr>
          <p:nvPr/>
        </p:nvPicPr>
        <p:blipFill>
          <a:blip r:embed="rId3">
            <a:extLst>
              <a:ext uri="{28A0092B-C50C-407E-A947-70E740481C1C}">
                <a14:useLocalDpi xmlns:a14="http://schemas.microsoft.com/office/drawing/2010/main" val="0"/>
              </a:ext>
            </a:extLst>
          </a:blip>
          <a:srcRect t="2120" b="12046"/>
          <a:stretch>
            <a:fillRect/>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extLst>
      <p:ext uri="{BB962C8B-B14F-4D97-AF65-F5344CB8AC3E}">
        <p14:creationId xmlns:p14="http://schemas.microsoft.com/office/powerpoint/2010/main" val="350052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3346" name="Rectangle 13345">
            <a:extLst>
              <a:ext uri="{FF2B5EF4-FFF2-40B4-BE49-F238E27FC236}">
                <a16:creationId xmlns:a16="http://schemas.microsoft.com/office/drawing/2014/main" id="{5CB593EA-2F98-479F-B4C4-F366571FA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318" name="Picture 6" descr="The Most Interesting Moments of the 2021 F1 Season">
            <a:extLst>
              <a:ext uri="{FF2B5EF4-FFF2-40B4-BE49-F238E27FC236}">
                <a16:creationId xmlns:a16="http://schemas.microsoft.com/office/drawing/2014/main" id="{6A3D78DA-19FD-63DC-D111-16ED4B3E41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213" r="20786"/>
          <a:stretch>
            <a:fillRect/>
          </a:stretch>
        </p:blipFill>
        <p:spPr bwMode="auto">
          <a:xfrm>
            <a:off x="443552" y="805481"/>
            <a:ext cx="2596212" cy="2056829"/>
          </a:xfrm>
          <a:prstGeom prst="rect">
            <a:avLst/>
          </a:prstGeom>
          <a:noFill/>
          <a:extLst>
            <a:ext uri="{909E8E84-426E-40DD-AFC4-6F175D3DCCD1}">
              <a14:hiddenFill xmlns:a14="http://schemas.microsoft.com/office/drawing/2010/main">
                <a:solidFill>
                  <a:srgbClr val="FFFFFF"/>
                </a:solidFill>
              </a14:hiddenFill>
            </a:ext>
          </a:extLst>
        </p:spPr>
      </p:pic>
      <p:pic>
        <p:nvPicPr>
          <p:cNvPr id="13322" name="Picture 10" descr="Lewis Hamilton vs Max Verstappen: Q&amp;A on F1 title run-in as Mercedes and  Red Bull await final 2021 battles | F1 News | Sky Sports">
            <a:extLst>
              <a:ext uri="{FF2B5EF4-FFF2-40B4-BE49-F238E27FC236}">
                <a16:creationId xmlns:a16="http://schemas.microsoft.com/office/drawing/2014/main" id="{71DF8FD4-CE3D-967E-5295-23CE7176DC30}"/>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334455" y="1098882"/>
            <a:ext cx="2613376" cy="1470024"/>
          </a:xfrm>
          <a:prstGeom prst="rect">
            <a:avLst/>
          </a:prstGeom>
          <a:noFill/>
          <a:extLst>
            <a:ext uri="{909E8E84-426E-40DD-AFC4-6F175D3DCCD1}">
              <a14:hiddenFill xmlns:a14="http://schemas.microsoft.com/office/drawing/2010/main">
                <a:solidFill>
                  <a:srgbClr val="FFFFFF"/>
                </a:solidFill>
              </a14:hiddenFill>
            </a:ext>
          </a:extLst>
        </p:spPr>
      </p:pic>
      <p:pic>
        <p:nvPicPr>
          <p:cNvPr id="10" name="Online Media 9" title="F1 | Main Trailer">
            <a:hlinkClick r:id="" action="ppaction://media"/>
            <a:extLst>
              <a:ext uri="{FF2B5EF4-FFF2-40B4-BE49-F238E27FC236}">
                <a16:creationId xmlns:a16="http://schemas.microsoft.com/office/drawing/2014/main" id="{CF99CE86-CC5D-A2B1-9BFF-77F14EBAB4CB}"/>
              </a:ext>
            </a:extLst>
          </p:cNvPr>
          <p:cNvPicPr>
            <a:picLocks noRot="1" noChangeAspect="1"/>
          </p:cNvPicPr>
          <p:nvPr>
            <a:videoFile r:link="rId1"/>
          </p:nvPr>
        </p:nvPicPr>
        <p:blipFill>
          <a:blip r:embed="rId6"/>
          <a:stretch>
            <a:fillRect/>
          </a:stretch>
        </p:blipFill>
        <p:spPr>
          <a:xfrm>
            <a:off x="6239987" y="1102451"/>
            <a:ext cx="2589181" cy="1462887"/>
          </a:xfrm>
          <a:prstGeom prst="rect">
            <a:avLst/>
          </a:prstGeom>
        </p:spPr>
      </p:pic>
      <p:pic>
        <p:nvPicPr>
          <p:cNvPr id="13314" name="Picture 2" descr="F1 The Movie (2025) Tickets &amp; Showtimes | Fandango">
            <a:extLst>
              <a:ext uri="{FF2B5EF4-FFF2-40B4-BE49-F238E27FC236}">
                <a16:creationId xmlns:a16="http://schemas.microsoft.com/office/drawing/2014/main" id="{9E82097A-B608-AFE0-4C20-22E20908E7C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5475"/>
          <a:stretch>
            <a:fillRect/>
          </a:stretch>
        </p:blipFill>
        <p:spPr bwMode="auto">
          <a:xfrm>
            <a:off x="9336751" y="457200"/>
            <a:ext cx="2198802" cy="27533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car mirror with a person's reflection&#10;&#10;AI-generated content may be incorrect.">
            <a:extLst>
              <a:ext uri="{FF2B5EF4-FFF2-40B4-BE49-F238E27FC236}">
                <a16:creationId xmlns:a16="http://schemas.microsoft.com/office/drawing/2014/main" id="{19CC128B-9ACE-5C23-4C17-1855A1098DE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8684" y="3429000"/>
            <a:ext cx="5201916" cy="2926078"/>
          </a:xfrm>
          <a:prstGeom prst="rect">
            <a:avLst/>
          </a:prstGeom>
        </p:spPr>
      </p:pic>
      <p:sp>
        <p:nvSpPr>
          <p:cNvPr id="13348" name="Rectangle 13347">
            <a:extLst>
              <a:ext uri="{FF2B5EF4-FFF2-40B4-BE49-F238E27FC236}">
                <a16:creationId xmlns:a16="http://schemas.microsoft.com/office/drawing/2014/main" id="{39BEB6D0-9E4E-4221-93D1-74ABECEE9E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5910" y="3474720"/>
            <a:ext cx="6046090" cy="3383281"/>
          </a:xfrm>
          <a:prstGeom prst="rect">
            <a:avLst/>
          </a:prstGeom>
          <a:solidFill>
            <a:srgbClr val="3B5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6353B0-439C-8557-7AD1-81F34418E649}"/>
              </a:ext>
            </a:extLst>
          </p:cNvPr>
          <p:cNvSpPr>
            <a:spLocks noGrp="1"/>
          </p:cNvSpPr>
          <p:nvPr>
            <p:ph type="title"/>
          </p:nvPr>
        </p:nvSpPr>
        <p:spPr>
          <a:xfrm>
            <a:off x="6491653" y="3799272"/>
            <a:ext cx="5193748" cy="637124"/>
          </a:xfrm>
        </p:spPr>
        <p:txBody>
          <a:bodyPr>
            <a:normAutofit/>
          </a:bodyPr>
          <a:lstStyle/>
          <a:p>
            <a:r>
              <a:rPr lang="en-US" sz="3200" b="1" dirty="0">
                <a:solidFill>
                  <a:srgbClr val="FFFFFF"/>
                </a:solidFill>
                <a:latin typeface="Bahnschrift" panose="020B0502040204020203" pitchFamily="34" charset="0"/>
              </a:rPr>
              <a:t>Relevance </a:t>
            </a:r>
          </a:p>
        </p:txBody>
      </p:sp>
      <p:sp>
        <p:nvSpPr>
          <p:cNvPr id="3" name="Content Placeholder 2">
            <a:extLst>
              <a:ext uri="{FF2B5EF4-FFF2-40B4-BE49-F238E27FC236}">
                <a16:creationId xmlns:a16="http://schemas.microsoft.com/office/drawing/2014/main" id="{2D8BEC88-8FA9-B110-2D7A-E0E0AB2ED7E8}"/>
              </a:ext>
            </a:extLst>
          </p:cNvPr>
          <p:cNvSpPr>
            <a:spLocks noGrp="1"/>
          </p:cNvSpPr>
          <p:nvPr>
            <p:ph idx="1"/>
          </p:nvPr>
        </p:nvSpPr>
        <p:spPr>
          <a:xfrm>
            <a:off x="6479648" y="4510585"/>
            <a:ext cx="5366610" cy="1758732"/>
          </a:xfrm>
        </p:spPr>
        <p:txBody>
          <a:bodyPr>
            <a:normAutofit/>
          </a:bodyPr>
          <a:lstStyle/>
          <a:p>
            <a:r>
              <a:rPr lang="en-US" sz="1800" dirty="0">
                <a:solidFill>
                  <a:srgbClr val="FFFFFF"/>
                </a:solidFill>
                <a:latin typeface="Bahnschrift" panose="020B0502040204020203" pitchFamily="34" charset="0"/>
              </a:rPr>
              <a:t>Rise in popularity </a:t>
            </a:r>
          </a:p>
          <a:p>
            <a:r>
              <a:rPr lang="en-US" sz="1800" dirty="0">
                <a:solidFill>
                  <a:srgbClr val="FFFFFF"/>
                </a:solidFill>
                <a:latin typeface="Bahnschrift" panose="020B0502040204020203" pitchFamily="34" charset="0"/>
              </a:rPr>
              <a:t>F1: The Movie</a:t>
            </a:r>
          </a:p>
          <a:p>
            <a:r>
              <a:rPr lang="en-US" sz="1800" dirty="0">
                <a:solidFill>
                  <a:srgbClr val="FFFFFF"/>
                </a:solidFill>
                <a:latin typeface="Bahnschrift" panose="020B0502040204020203" pitchFamily="34" charset="0"/>
              </a:rPr>
              <a:t>2021 season</a:t>
            </a:r>
          </a:p>
          <a:p>
            <a:r>
              <a:rPr lang="en-US" sz="1800" dirty="0">
                <a:solidFill>
                  <a:srgbClr val="FFFFFF"/>
                </a:solidFill>
                <a:latin typeface="Bahnschrift" panose="020B0502040204020203" pitchFamily="34" charset="0"/>
              </a:rPr>
              <a:t>Drive to Survive</a:t>
            </a:r>
          </a:p>
        </p:txBody>
      </p:sp>
    </p:spTree>
    <p:extLst>
      <p:ext uri="{BB962C8B-B14F-4D97-AF65-F5344CB8AC3E}">
        <p14:creationId xmlns:p14="http://schemas.microsoft.com/office/powerpoint/2010/main" val="268522223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444114CB831B4986B308D08F7ABA89" ma:contentTypeVersion="16" ma:contentTypeDescription="Create a new document." ma:contentTypeScope="" ma:versionID="919509ac886eec7ae682a3007b5d1d96">
  <xsd:schema xmlns:xsd="http://www.w3.org/2001/XMLSchema" xmlns:xs="http://www.w3.org/2001/XMLSchema" xmlns:p="http://schemas.microsoft.com/office/2006/metadata/properties" xmlns:ns3="fe324f3b-aedc-43f0-afab-0a2eeea2bfa3" xmlns:ns4="cdc6db92-0592-4750-8442-86af912eb26b" targetNamespace="http://schemas.microsoft.com/office/2006/metadata/properties" ma:root="true" ma:fieldsID="8a8d6e2f1783dcf191c65509d209b2e3" ns3:_="" ns4:_="">
    <xsd:import namespace="fe324f3b-aedc-43f0-afab-0a2eeea2bfa3"/>
    <xsd:import namespace="cdc6db92-0592-4750-8442-86af912eb26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MediaLengthInSeconds" minOccurs="0"/>
                <xsd:element ref="ns4:_activity"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324f3b-aedc-43f0-afab-0a2eeea2bfa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dc6db92-0592-4750-8442-86af912eb26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dc6db92-0592-4750-8442-86af912eb26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63449A-A0A9-4C19-90F0-2DEC8A6FD7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324f3b-aedc-43f0-afab-0a2eeea2bfa3"/>
    <ds:schemaRef ds:uri="cdc6db92-0592-4750-8442-86af912eb2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81FE95-A4D3-4502-82EB-1D3D58E1E4B5}">
  <ds:schemaRefs>
    <ds:schemaRef ds:uri="http://purl.org/dc/elements/1.1/"/>
    <ds:schemaRef ds:uri="http://schemas.microsoft.com/office/2006/metadata/properties"/>
    <ds:schemaRef ds:uri="fe324f3b-aedc-43f0-afab-0a2eeea2bfa3"/>
    <ds:schemaRef ds:uri="http://purl.org/dc/term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cdc6db92-0592-4750-8442-86af912eb26b"/>
    <ds:schemaRef ds:uri="http://www.w3.org/XML/1998/namespace"/>
  </ds:schemaRefs>
</ds:datastoreItem>
</file>

<file path=customXml/itemProps3.xml><?xml version="1.0" encoding="utf-8"?>
<ds:datastoreItem xmlns:ds="http://schemas.openxmlformats.org/officeDocument/2006/customXml" ds:itemID="{5C4A8B0E-35D7-4C84-95D5-0FAC3196171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3423</TotalTime>
  <Words>1798</Words>
  <Application>Microsoft Office PowerPoint</Application>
  <PresentationFormat>Widescreen</PresentationFormat>
  <Paragraphs>133</Paragraphs>
  <Slides>15</Slides>
  <Notes>11</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Meiryo</vt:lpstr>
      <vt:lpstr>Aptos</vt:lpstr>
      <vt:lpstr>Aptos Display</vt:lpstr>
      <vt:lpstr>Arial</vt:lpstr>
      <vt:lpstr>Bahnschrift</vt:lpstr>
      <vt:lpstr>Calibri</vt:lpstr>
      <vt:lpstr>Office Theme</vt:lpstr>
      <vt:lpstr>The Data Fueling Formula 1</vt:lpstr>
      <vt:lpstr>Overview</vt:lpstr>
      <vt:lpstr>The Cars</vt:lpstr>
      <vt:lpstr>Race Weekend</vt:lpstr>
      <vt:lpstr>Tracks</vt:lpstr>
      <vt:lpstr>Initial Questions </vt:lpstr>
      <vt:lpstr>Struggles with Initial Questions</vt:lpstr>
      <vt:lpstr>Updated Research Questions </vt:lpstr>
      <vt:lpstr>Models </vt:lpstr>
      <vt:lpstr>Models </vt:lpstr>
      <vt:lpstr>Models</vt:lpstr>
      <vt:lpstr>Models</vt:lpstr>
      <vt:lpstr>Best Model </vt:lpstr>
      <vt:lpstr>Final Product</vt:lpstr>
      <vt:lpstr>Relevance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Abigail Brown</dc:creator>
  <cp:lastModifiedBy>Abigail Brown</cp:lastModifiedBy>
  <cp:revision>2</cp:revision>
  <dcterms:created xsi:type="dcterms:W3CDTF">2025-12-03T18:22:02Z</dcterms:created>
  <dcterms:modified xsi:type="dcterms:W3CDTF">2025-12-06T23:03:47Z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0x0101002A444114CB831B4986B308D08F7ABA89</vt:lpwstr>
  </property>
</Properties>
</file>